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9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8" r:id="rId15"/>
    <p:sldId id="30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758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central (2 min). Si solo recuerdan una cosa: la caja funciona localmente en cada tienda y AX se entera después. Eso da autonomía a la sucursal, pero obliga a tener buena trazabilidad y manejo de reintentos. Los puntos de atención se retoman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Funcionalidad (2 min). Los seis primeros módulos son de uso diario en tienda. El Sincronizador es distinto: es un tablero de la integración central, útil sobre todo para soporte.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Capas (2 min). Leer de izquierda a derecha: lo que usa el cajero, los servicios de la sucursal, la integración local y central, y la adaptación hacia AX y sistemas externos. Para la gerencia: la capa 3 es la que da autonomía a las tiendas, y también la más compleja de operar.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completo (2 min). Sirve como mapa de referencia: no hace falta explicar cada flecha; las láminas siguientes lo desarman por partes (datos, lenguajes, integraciones, servicios y bus). Es un diagrama lógico: no implica que todos los componentes centrales estén en un único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Distribución física (2 min). En la tienda hay dos niveles: el PC del cajero, con sus agentes locales, y el servidor de la sucursal. Todo lo demás es central. La tienda envía sus transacciones hacia central y recibe desde allí los avisos y los datos maestros. Mensaje clave: el punto de venta se diseñó en sus inicios para operar 100% offline, pero la consulta de precios de productos todavía depende de una API en línea; si no hay conexión o esa API falla, la caja no puede continuar ni finalizar una venta. Además, facturación y crédito dependen de servicios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de datos (2 min). PostgreSQL es el corazón de la operación en tienda: si cae, no se puede operar la caja ni sincronizar. SQL Server es la base de Dynamics AX. MongoDB tiene un rol acotado: el estado de las notas de crédito. Mensaje clave: la tienda y AX no comparten base; se comunican con mensajes.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Lenguajes (2 min). El ecosistema combina TypeScript y JavaScript (frontend y servicios Node.js), Java (bus WSO2) y C# (APIs hacia AX y agente de impresión). Esto implica que mantenerlo requiere perfiles distintos. Deuda tecnológica: Angular 8 y .NET Framework 4.5 están fuera de soporte, y AdonisJS 4.1 es una generación anterior del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Matriz tecnológica (2 min). Detalle de versiones declaradas en los manifiestos de cada repositorio. El bus corre sobre WSO2 EI 6.6.0 (confirmado). Detalle completo de dependencias: Frontend: RxJS ~6.4.0, Angular Material 8.2.3, Bootstrap 4.4.1, ngx-bootstrap, DataTables, Chart.js, xlsx, Transbank SDK. Backend caja: AdonisJS 4.1 con @adonisjs/framework ^5.0.9; Lucid ^6.1.3, pg ^8.3.3, Axios, Auth, Mail, WebSocket, Algolia, log4js, XML, Excel. Backend concentrador: Lucid, PostgreSQL, Axios ^0.27.2, node-cron ^3.0.0, log4js. Sincronizador sucursal: amqplib ^0.6.0, pg ^8.3.3, Axios ^0.20.0, node-cron, xml2js. API de lectura: pg ^8.7.1, Lucid, log4js, compresión. Procesador cola bus: amqplib ^0.8.0, pg ^8.7.1, node-cron, xml2js. Bus y mediadores: synapse-core 2.1.7-wso2v142, synapse-commons 2.1.2-wso2v4, JDBC, artefactos CAR. APIs corporativas: WCF, ADO.NET, Newtonsoft.Json, log4net; Npgsql en el acceso al concentrador. Consulta de pagos: pg ^8.7.3, Mongoose ^5.13.15, helmet, cors, morgan, rate limit. Impresión: Web API SelfHost 5.2.7, System.Drawing, spooler Windows, ESC/POS, ZXing, iText, log4net, POS for .NET. Puntos a destacar: Angular 8 y .NET Framework 4.5 están fuera de soporte del fabricante; seis de los componentes comparten AdonisJS 4.1.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Integraciones (2 min). Es la distinción más útil para diagnosticar: un problema que el cajero ve en pantalla está en la columna izquierda; un «no aparece en AX» está en la derecha. Un detalle importante del flujo de venta: la venta se guarda en la base local antes de emitir el DTE, así que un error al final no significa que la venta no se guardó; hay que revisar su estado antes de reintentar.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Servicios/APIs (2 min). En la sucursal hay dos procesos distintos: el backend, que atiende a la pantalla, y el sincronizador, que trabaja en segundo plano. En central, la API de lectura y la administración comparten el modelo de mensajes, pero son aplicaciones distintas. Las APIs .NET son la puerta de entrada a Dynamics AX, tanto para consultas en línea como para el registro diferido.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 de datos (3 min). Subida: el sincronizador de cada sucursal revisa cada minuto y envía los 11 tipos de transacción al bus de integración, que los entrega a las APIs de AX; la respuesta de AX vuelve a la tienda por el broker. Bajada: el bus detecta cambios en AX, avisa por cola a la sucursal, y la sucursal descarga los datos desde la API de lectura. La cola solo avisa; los datos viajan aparte. Ejemplo para la gerencia: una venta del sábado a las 18:00 recién sube el domingo a las 07:00.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Dependencias (3 min). Los «altos» detienen o degradan la venta en la tienda. Destacar la API de consulta de precios: aunque el punto de venta se diseñó para operar offline, esta consulta sigue siendo en línea, y sin ella la caja no puede continuar ni finalizar una venta. Los «medios» son en su mayoría del camino diferido o de un medio de pago puntual: la tienda sigue vendiendo, pero se acumula desfase con AX o se pierde una opción de cobro. El nivel de impacto es una evaluación preliminar derivada del código, para validar con operaciones. El impacto de ORSAN / Instacheck es una estimación: validar con 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Puntos de atención (2 min). Deuda técnica clave: el punto de venta se diseñó en sus inicios para operar 100% offline, pero la consulta de precios de productos sigue dependiendo de una API en línea; si no hay conexión o esa API falla, la caja no puede continuar ni finalizar una venta. El frente más relevante es integridad: hay condiciones en el código que podrían perder o mezclar información en escenarios de falla. Seguridad: la protección real depende también de la red y la publicación, que no están en los repositorios. Operación: si un reporte cuenta ventas «sincronizadas» usando solo esa marca, está contando ventas preparadas, no confirmadas en AX. El detalle técnico de cada hallazgo está en el documento de referencia.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4810E5C-4DFE-FCA6-BE7B-253347BC6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0EC9-6611-490B-ABA9-1046066D08FA}" type="datetimeFigureOut">
              <a:rPr lang="es-CL" smtClean="0"/>
              <a:t>01-10-2026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B6513F5-BFF1-3EA9-1DC3-8C921E9BC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EDACD2-0D26-E643-C247-B8C51EF9D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68C51-5688-43A3-8675-C09D925E561C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029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.png"/><Relationship Id="rId5" Type="http://schemas.openxmlformats.org/officeDocument/2006/relationships/image" Target="../media/image12.png"/><Relationship Id="rId10" Type="http://schemas.openxmlformats.org/officeDocument/2006/relationships/image" Target="../media/image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9.png"/><Relationship Id="rId4" Type="http://schemas.openxmlformats.org/officeDocument/2006/relationships/image" Target="../media/image2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7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9.png"/><Relationship Id="rId4" Type="http://schemas.openxmlformats.org/officeDocument/2006/relationships/image" Target="../media/image32.png"/><Relationship Id="rId9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9.png"/><Relationship Id="rId4" Type="http://schemas.openxmlformats.org/officeDocument/2006/relationships/image" Target="../media/image36.png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5841081D-C0C7-C362-4F46-8DDD3D307FEE}"/>
              </a:ext>
            </a:extLst>
          </p:cNvPr>
          <p:cNvSpPr/>
          <p:nvPr/>
        </p:nvSpPr>
        <p:spPr>
          <a:xfrm>
            <a:off x="0" y="4561242"/>
            <a:ext cx="12192000" cy="2296758"/>
          </a:xfrm>
          <a:prstGeom prst="rect">
            <a:avLst/>
          </a:prstGeom>
          <a:solidFill>
            <a:srgbClr val="199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199D694-F459-93A4-900D-6F897B06E2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20417"/>
          <a:stretch>
            <a:fillRect/>
          </a:stretch>
        </p:blipFill>
        <p:spPr>
          <a:xfrm>
            <a:off x="952500" y="1400205"/>
            <a:ext cx="10287000" cy="5457795"/>
          </a:xfrm>
          <a:prstGeom prst="roundRect">
            <a:avLst/>
          </a:prstGeom>
        </p:spPr>
      </p:pic>
      <p:pic>
        <p:nvPicPr>
          <p:cNvPr id="5" name="Imagen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D5E951EC-AD94-44AE-33DA-BF4F77AE67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51" y="1794559"/>
            <a:ext cx="4514404" cy="3301391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6C45517A-2DED-1516-BBD6-6BC4A70FBD28}"/>
              </a:ext>
            </a:extLst>
          </p:cNvPr>
          <p:cNvSpPr/>
          <p:nvPr/>
        </p:nvSpPr>
        <p:spPr>
          <a:xfrm>
            <a:off x="792480" y="254515"/>
            <a:ext cx="10607040" cy="659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700" b="1" dirty="0">
                <a:solidFill>
                  <a:srgbClr val="007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Caja Mountain Pos</a:t>
            </a:r>
            <a:endParaRPr lang="en-US" sz="37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2CC80836-76FC-7553-366F-AB6971448561}"/>
              </a:ext>
            </a:extLst>
          </p:cNvPr>
          <p:cNvSpPr/>
          <p:nvPr/>
        </p:nvSpPr>
        <p:spPr>
          <a:xfrm>
            <a:off x="952500" y="890909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MX" sz="2200" b="1" dirty="0">
                <a:solidFill>
                  <a:srgbClr val="159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funciona: arquitectura, datos, integraciones y dependencias.</a:t>
            </a:r>
          </a:p>
        </p:txBody>
      </p:sp>
    </p:spTree>
    <p:extLst>
      <p:ext uri="{BB962C8B-B14F-4D97-AF65-F5344CB8AC3E}">
        <p14:creationId xmlns:p14="http://schemas.microsoft.com/office/powerpoint/2010/main" val="3699483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b="1" kern="0" spc="150" noProof="0" dirty="0">
                <a:solidFill>
                  <a:srgbClr val="127A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RESUMEN EJECUTIVO</a:t>
            </a:r>
            <a:endParaRPr lang="es-CL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98806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s-CL" sz="32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El sistema</a:t>
            </a:r>
            <a:endParaRPr lang="es-CL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812800" y="1714500"/>
            <a:ext cx="981075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s-CL" sz="2000" noProof="0" dirty="0">
                <a:solidFill>
                  <a:srgbClr val="1F2A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plataforma de punto de venta </a:t>
            </a:r>
            <a:r>
              <a:rPr lang="es-CL" sz="2000" b="1" noProof="0" dirty="0">
                <a:solidFill>
                  <a:srgbClr val="1F2A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distribuida</a:t>
            </a:r>
            <a:r>
              <a:rPr lang="es-CL" sz="2000" noProof="0" dirty="0">
                <a:solidFill>
                  <a:srgbClr val="1F2A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cada sucursal vende con su propia base de datos y, en segundo plano, sincroniza con </a:t>
            </a:r>
            <a:r>
              <a:rPr lang="es-CL" sz="2000" noProof="0" dirty="0">
                <a:solidFill>
                  <a:srgbClr val="046EB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Microsoft Dynamics AX</a:t>
            </a:r>
            <a:r>
              <a:rPr lang="es-CL" sz="2000" noProof="0" dirty="0">
                <a:solidFill>
                  <a:srgbClr val="1F2A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través de un bus de integración central.</a:t>
            </a:r>
            <a:endParaRPr lang="es-CL" sz="2000" noProof="0" dirty="0"/>
          </a:p>
        </p:txBody>
      </p:sp>
      <p:sp>
        <p:nvSpPr>
          <p:cNvPr id="5" name="Shape 3"/>
          <p:cNvSpPr/>
          <p:nvPr/>
        </p:nvSpPr>
        <p:spPr>
          <a:xfrm>
            <a:off x="815975" y="3025775"/>
            <a:ext cx="2520950" cy="2388870"/>
          </a:xfrm>
          <a:prstGeom prst="roundRect">
            <a:avLst>
              <a:gd name="adj" fmla="val 4120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6" name="Image 0" descr="Hom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7750" y="3257550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7750" y="3651250"/>
            <a:ext cx="211912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s-CL" sz="17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Opera por sucursal</a:t>
            </a:r>
            <a:endParaRPr lang="es-CL" sz="1700" noProof="0" dirty="0"/>
          </a:p>
        </p:txBody>
      </p:sp>
      <p:sp>
        <p:nvSpPr>
          <p:cNvPr id="8" name="Text 5"/>
          <p:cNvSpPr/>
          <p:nvPr/>
        </p:nvSpPr>
        <p:spPr>
          <a:xfrm>
            <a:off x="1047750" y="3999230"/>
            <a:ext cx="211912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noProof="0" dirty="0" err="1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Backend</a:t>
            </a: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base de datos y sincronizador propios en cada tienda.</a:t>
            </a:r>
            <a:endParaRPr lang="es-CL" sz="1300" noProof="0" dirty="0"/>
          </a:p>
        </p:txBody>
      </p:sp>
      <p:sp>
        <p:nvSpPr>
          <p:cNvPr id="9" name="Shape 6"/>
          <p:cNvSpPr/>
          <p:nvPr/>
        </p:nvSpPr>
        <p:spPr>
          <a:xfrm>
            <a:off x="3495675" y="3025775"/>
            <a:ext cx="2520950" cy="2388870"/>
          </a:xfrm>
          <a:prstGeom prst="roundRect">
            <a:avLst>
              <a:gd name="adj" fmla="val 4120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10" name="Image 1" descr="Clo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27450" y="3257550"/>
            <a:ext cx="304800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27450" y="3651250"/>
            <a:ext cx="2119122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s-CL" sz="17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AX se entera después</a:t>
            </a:r>
            <a:endParaRPr lang="es-CL" sz="1700" noProof="0" dirty="0"/>
          </a:p>
        </p:txBody>
      </p:sp>
      <p:sp>
        <p:nvSpPr>
          <p:cNvPr id="12" name="Text 8"/>
          <p:cNvSpPr/>
          <p:nvPr/>
        </p:nvSpPr>
        <p:spPr>
          <a:xfrm>
            <a:off x="3773208" y="3935730"/>
            <a:ext cx="2119122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Vender, emitir el DTE y registrar en AX son pasos separados: el registro llega minutos más tarde.</a:t>
            </a:r>
            <a:endParaRPr lang="es-CL" sz="1300" noProof="0" dirty="0"/>
          </a:p>
        </p:txBody>
      </p:sp>
      <p:sp>
        <p:nvSpPr>
          <p:cNvPr id="13" name="Shape 9"/>
          <p:cNvSpPr/>
          <p:nvPr/>
        </p:nvSpPr>
        <p:spPr>
          <a:xfrm>
            <a:off x="6175375" y="3025775"/>
            <a:ext cx="2520950" cy="2388870"/>
          </a:xfrm>
          <a:prstGeom prst="roundRect">
            <a:avLst>
              <a:gd name="adj" fmla="val 4120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14" name="Image 2" descr="Cod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07150" y="3257550"/>
            <a:ext cx="304800" cy="304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7149" y="3651250"/>
            <a:ext cx="2210639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s-CL" sz="17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Ecosistema heterogéneo</a:t>
            </a:r>
            <a:endParaRPr lang="es-CL" sz="1700" noProof="0" dirty="0"/>
          </a:p>
        </p:txBody>
      </p:sp>
      <p:sp>
        <p:nvSpPr>
          <p:cNvPr id="16" name="Text 11"/>
          <p:cNvSpPr/>
          <p:nvPr/>
        </p:nvSpPr>
        <p:spPr>
          <a:xfrm>
            <a:off x="6407150" y="3977005"/>
            <a:ext cx="2119122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aplicaciones en Angular, Node.js, .NET y Java, con tres motores de base de datos.</a:t>
            </a:r>
            <a:endParaRPr lang="es-CL" sz="1300" noProof="0" dirty="0"/>
          </a:p>
        </p:txBody>
      </p:sp>
      <p:sp>
        <p:nvSpPr>
          <p:cNvPr id="17" name="Shape 12"/>
          <p:cNvSpPr/>
          <p:nvPr/>
        </p:nvSpPr>
        <p:spPr>
          <a:xfrm>
            <a:off x="8855075" y="3025775"/>
            <a:ext cx="2520950" cy="2388870"/>
          </a:xfrm>
          <a:prstGeom prst="roundRect">
            <a:avLst>
              <a:gd name="adj" fmla="val 4120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18" name="Image 3" descr="Warni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86850" y="3257550"/>
            <a:ext cx="304800" cy="3048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86850" y="3651250"/>
            <a:ext cx="211912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s-CL" sz="17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Puntos de atención</a:t>
            </a:r>
            <a:endParaRPr lang="es-CL" sz="1700" noProof="0" dirty="0"/>
          </a:p>
        </p:txBody>
      </p:sp>
      <p:sp>
        <p:nvSpPr>
          <p:cNvPr id="20" name="Text 14"/>
          <p:cNvSpPr/>
          <p:nvPr/>
        </p:nvSpPr>
        <p:spPr>
          <a:xfrm>
            <a:off x="9086850" y="3999230"/>
            <a:ext cx="2119122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Consulta de precios aún en línea, garantías de entrega y versiones fuera de soporte.</a:t>
            </a:r>
            <a:endParaRPr lang="es-CL" sz="1300" noProof="0" dirty="0"/>
          </a:p>
        </p:txBody>
      </p:sp>
      <p:sp>
        <p:nvSpPr>
          <p:cNvPr id="28" name="Forma libre: forma 27">
            <a:extLst>
              <a:ext uri="{FF2B5EF4-FFF2-40B4-BE49-F238E27FC236}">
                <a16:creationId xmlns:a16="http://schemas.microsoft.com/office/drawing/2014/main" id="{C8419A63-36E3-6C5E-2A2E-ACBC95D424B3}"/>
              </a:ext>
            </a:extLst>
          </p:cNvPr>
          <p:cNvSpPr/>
          <p:nvPr/>
        </p:nvSpPr>
        <p:spPr>
          <a:xfrm flipH="1">
            <a:off x="10753493" y="6626345"/>
            <a:ext cx="1438507" cy="231655"/>
          </a:xfrm>
          <a:custGeom>
            <a:avLst/>
            <a:gdLst>
              <a:gd name="csX0" fmla="*/ 0 w 2456496"/>
              <a:gd name="csY0" fmla="*/ 93 h 518929"/>
              <a:gd name="csX1" fmla="*/ 2278421 w 2456496"/>
              <a:gd name="csY1" fmla="*/ 93 h 518929"/>
              <a:gd name="csX2" fmla="*/ 2456497 w 2456496"/>
              <a:gd name="csY2" fmla="*/ 178170 h 518929"/>
              <a:gd name="csX3" fmla="*/ 2456497 w 2456496"/>
              <a:gd name="csY3" fmla="*/ 518930 h 518929"/>
              <a:gd name="csX4" fmla="*/ 0 w 2456496"/>
              <a:gd name="csY4" fmla="*/ 518930 h 518929"/>
              <a:gd name="csX5" fmla="*/ 0 w 2456496"/>
              <a:gd name="csY5" fmla="*/ 0 h 518929"/>
              <a:gd name="csX6" fmla="*/ 0 w 2456496"/>
              <a:gd name="csY6" fmla="*/ 0 h 5189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56496" h="518929">
                <a:moveTo>
                  <a:pt x="0" y="93"/>
                </a:moveTo>
                <a:lnTo>
                  <a:pt x="2278421" y="93"/>
                </a:lnTo>
                <a:cubicBezTo>
                  <a:pt x="2376740" y="93"/>
                  <a:pt x="2456497" y="79943"/>
                  <a:pt x="2456497" y="178170"/>
                </a:cubicBezTo>
                <a:lnTo>
                  <a:pt x="2456497" y="518930"/>
                </a:lnTo>
                <a:lnTo>
                  <a:pt x="0" y="51893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9581"/>
          </a:solidFill>
          <a:ln w="9328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9" name="Imagen 28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6ADFEE09-5BAC-8CBB-7571-A5080938AC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131" y="6161339"/>
            <a:ext cx="1096557" cy="801914"/>
          </a:xfrm>
          <a:prstGeom prst="rect">
            <a:avLst/>
          </a:prstGeom>
        </p:spPr>
      </p:pic>
      <p:grpSp>
        <p:nvGrpSpPr>
          <p:cNvPr id="30" name="Grupo 29">
            <a:extLst>
              <a:ext uri="{FF2B5EF4-FFF2-40B4-BE49-F238E27FC236}">
                <a16:creationId xmlns:a16="http://schemas.microsoft.com/office/drawing/2014/main" id="{0ECFF9B4-21CB-51F2-A89F-C7C634E06C04}"/>
              </a:ext>
            </a:extLst>
          </p:cNvPr>
          <p:cNvGrpSpPr/>
          <p:nvPr/>
        </p:nvGrpSpPr>
        <p:grpSpPr>
          <a:xfrm>
            <a:off x="448370" y="6522174"/>
            <a:ext cx="3712788" cy="261610"/>
            <a:chOff x="448370" y="6513296"/>
            <a:chExt cx="3712788" cy="261610"/>
          </a:xfrm>
        </p:grpSpPr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F74B2B37-A165-B9E6-C916-525919BCDD13}"/>
                </a:ext>
              </a:extLst>
            </p:cNvPr>
            <p:cNvGrpSpPr/>
            <p:nvPr userDrawn="1"/>
          </p:nvGrpSpPr>
          <p:grpSpPr>
            <a:xfrm>
              <a:off x="448370" y="6513296"/>
              <a:ext cx="2978937" cy="261610"/>
              <a:chOff x="9047344" y="6512423"/>
              <a:chExt cx="3340699" cy="261610"/>
            </a:xfrm>
          </p:grpSpPr>
          <p:sp>
            <p:nvSpPr>
              <p:cNvPr id="36" name="Forma libre: forma 35">
                <a:extLst>
                  <a:ext uri="{FF2B5EF4-FFF2-40B4-BE49-F238E27FC236}">
                    <a16:creationId xmlns:a16="http://schemas.microsoft.com/office/drawing/2014/main" id="{568427FE-70B5-31F5-55B9-03865C4D6F21}"/>
                  </a:ext>
                </a:extLst>
              </p:cNvPr>
              <p:cNvSpPr/>
              <p:nvPr userDrawn="1"/>
            </p:nvSpPr>
            <p:spPr>
              <a:xfrm>
                <a:off x="9107601" y="6534430"/>
                <a:ext cx="2964589" cy="210603"/>
              </a:xfrm>
              <a:custGeom>
                <a:avLst/>
                <a:gdLst>
                  <a:gd name="csX0" fmla="*/ 2407524 w 2585599"/>
                  <a:gd name="csY0" fmla="*/ 0 h 518836"/>
                  <a:gd name="csX1" fmla="*/ 0 w 2585599"/>
                  <a:gd name="csY1" fmla="*/ 0 h 518836"/>
                  <a:gd name="csX2" fmla="*/ 0 w 2585599"/>
                  <a:gd name="csY2" fmla="*/ 340761 h 518836"/>
                  <a:gd name="csX3" fmla="*/ 178076 w 2585599"/>
                  <a:gd name="csY3" fmla="*/ 518836 h 518836"/>
                  <a:gd name="csX4" fmla="*/ 2585600 w 2585599"/>
                  <a:gd name="csY4" fmla="*/ 518836 h 518836"/>
                  <a:gd name="csX5" fmla="*/ 2585600 w 2585599"/>
                  <a:gd name="csY5" fmla="*/ 178076 h 518836"/>
                  <a:gd name="csX6" fmla="*/ 2407524 w 2585599"/>
                  <a:gd name="csY6" fmla="*/ 0 h 5188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585599" h="518836">
                    <a:moveTo>
                      <a:pt x="2407524" y="0"/>
                    </a:moveTo>
                    <a:lnTo>
                      <a:pt x="0" y="0"/>
                    </a:lnTo>
                    <a:lnTo>
                      <a:pt x="0" y="340761"/>
                    </a:lnTo>
                    <a:cubicBezTo>
                      <a:pt x="0" y="439080"/>
                      <a:pt x="79756" y="518836"/>
                      <a:pt x="178076" y="518836"/>
                    </a:cubicBezTo>
                    <a:lnTo>
                      <a:pt x="2585600" y="518836"/>
                    </a:lnTo>
                    <a:lnTo>
                      <a:pt x="2585600" y="178076"/>
                    </a:lnTo>
                    <a:cubicBezTo>
                      <a:pt x="2585600" y="79756"/>
                      <a:pt x="2505843" y="0"/>
                      <a:pt x="2407524" y="0"/>
                    </a:cubicBezTo>
                    <a:close/>
                  </a:path>
                </a:pathLst>
              </a:custGeom>
              <a:solidFill>
                <a:srgbClr val="046EB6"/>
              </a:solidFill>
              <a:ln w="9328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6EB6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D9C185B4-B71F-0D2F-6843-8E10E752371A}"/>
                  </a:ext>
                </a:extLst>
              </p:cNvPr>
              <p:cNvSpPr txBox="1"/>
              <p:nvPr userDrawn="1"/>
            </p:nvSpPr>
            <p:spPr>
              <a:xfrm>
                <a:off x="9047344" y="6512423"/>
                <a:ext cx="334069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L" sz="1050" b="1" i="1" u="none" strike="noStrike" kern="1200" cap="none" spc="0" normalizeH="0" baseline="0" noProof="0" dirty="0">
                    <a:ln/>
                    <a:solidFill>
                      <a:srgbClr val="FFFFFF"/>
                    </a:solidFill>
                    <a:effectLst/>
                    <a:uLnTx/>
                    <a:uFillTx/>
                    <a:latin typeface="Acumin Variable Concept"/>
                    <a:ea typeface="+mn-ea"/>
                    <a:cs typeface="+mn-cs"/>
                    <a:sym typeface="Acumin Variable Concept"/>
                    <a:rtl val="0"/>
                  </a:rPr>
                  <a:t>EL SUPERMERCADO DEL TRANSPORTE</a:t>
                </a:r>
              </a:p>
            </p:txBody>
          </p:sp>
        </p:grpSp>
        <p:grpSp>
          <p:nvGrpSpPr>
            <p:cNvPr id="32" name="Gráfico 4">
              <a:extLst>
                <a:ext uri="{FF2B5EF4-FFF2-40B4-BE49-F238E27FC236}">
                  <a16:creationId xmlns:a16="http://schemas.microsoft.com/office/drawing/2014/main" id="{D8A5EA0E-55BD-43D0-32D2-7216706A4BB8}"/>
                </a:ext>
              </a:extLst>
            </p:cNvPr>
            <p:cNvGrpSpPr/>
            <p:nvPr userDrawn="1"/>
          </p:nvGrpSpPr>
          <p:grpSpPr>
            <a:xfrm>
              <a:off x="3427306" y="6567844"/>
              <a:ext cx="733852" cy="145520"/>
              <a:chOff x="2672165" y="6438007"/>
              <a:chExt cx="733852" cy="145520"/>
            </a:xfrm>
          </p:grpSpPr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D2C0996F-F8DD-D338-5FDD-0C1708F771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72165" y="6438007"/>
                <a:ext cx="215855" cy="145520"/>
              </a:xfrm>
              <a:custGeom>
                <a:avLst/>
                <a:gdLst>
                  <a:gd name="csX0" fmla="*/ 209 w 215855"/>
                  <a:gd name="csY0" fmla="*/ 638 h 145520"/>
                  <a:gd name="csX1" fmla="*/ 216064 w 215855"/>
                  <a:gd name="csY1" fmla="*/ 638 h 145520"/>
                  <a:gd name="csX2" fmla="*/ 216064 w 215855"/>
                  <a:gd name="csY2" fmla="*/ 146158 h 145520"/>
                  <a:gd name="csX3" fmla="*/ 209 w 215855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5855" h="145520">
                    <a:moveTo>
                      <a:pt x="209" y="638"/>
                    </a:moveTo>
                    <a:lnTo>
                      <a:pt x="216064" y="638"/>
                    </a:lnTo>
                    <a:lnTo>
                      <a:pt x="216064" y="146158"/>
                    </a:lnTo>
                    <a:lnTo>
                      <a:pt x="209" y="146158"/>
                    </a:lnTo>
                    <a:close/>
                  </a:path>
                </a:pathLst>
              </a:custGeom>
            </p:spPr>
          </p:pic>
          <p:pic>
            <p:nvPicPr>
              <p:cNvPr id="34" name="Imagen 33">
                <a:extLst>
                  <a:ext uri="{FF2B5EF4-FFF2-40B4-BE49-F238E27FC236}">
                    <a16:creationId xmlns:a16="http://schemas.microsoft.com/office/drawing/2014/main" id="{8CC1CF1A-D3AA-59F7-0BD5-471BC695C2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34755" y="6438007"/>
                <a:ext cx="214642" cy="145520"/>
              </a:xfrm>
              <a:custGeom>
                <a:avLst/>
                <a:gdLst>
                  <a:gd name="csX0" fmla="*/ 238 w 214642"/>
                  <a:gd name="csY0" fmla="*/ 638 h 145520"/>
                  <a:gd name="csX1" fmla="*/ 214880 w 214642"/>
                  <a:gd name="csY1" fmla="*/ 638 h 145520"/>
                  <a:gd name="csX2" fmla="*/ 214880 w 214642"/>
                  <a:gd name="csY2" fmla="*/ 146158 h 145520"/>
                  <a:gd name="csX3" fmla="*/ 238 w 214642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4642" h="145520">
                    <a:moveTo>
                      <a:pt x="238" y="638"/>
                    </a:moveTo>
                    <a:lnTo>
                      <a:pt x="214880" y="638"/>
                    </a:lnTo>
                    <a:lnTo>
                      <a:pt x="214880" y="146158"/>
                    </a:lnTo>
                    <a:lnTo>
                      <a:pt x="238" y="146158"/>
                    </a:lnTo>
                    <a:close/>
                  </a:path>
                </a:pathLst>
              </a:custGeom>
            </p:spPr>
          </p:pic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D7A9C0D7-D064-F923-8307-65DE534093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96225" y="6438007"/>
                <a:ext cx="209791" cy="145520"/>
              </a:xfrm>
              <a:custGeom>
                <a:avLst/>
                <a:gdLst>
                  <a:gd name="csX0" fmla="*/ 267 w 209791"/>
                  <a:gd name="csY0" fmla="*/ 638 h 145520"/>
                  <a:gd name="csX1" fmla="*/ 210059 w 209791"/>
                  <a:gd name="csY1" fmla="*/ 638 h 145520"/>
                  <a:gd name="csX2" fmla="*/ 210059 w 209791"/>
                  <a:gd name="csY2" fmla="*/ 146158 h 145520"/>
                  <a:gd name="csX3" fmla="*/ 267 w 209791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09791" h="145520">
                    <a:moveTo>
                      <a:pt x="267" y="638"/>
                    </a:moveTo>
                    <a:lnTo>
                      <a:pt x="210059" y="638"/>
                    </a:lnTo>
                    <a:lnTo>
                      <a:pt x="210059" y="146158"/>
                    </a:lnTo>
                    <a:lnTo>
                      <a:pt x="267" y="146158"/>
                    </a:lnTo>
                    <a:close/>
                  </a:path>
                </a:pathLst>
              </a:custGeom>
            </p:spPr>
          </p:pic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b="1" kern="0" spc="150" noProof="0" dirty="0">
                <a:solidFill>
                  <a:srgbClr val="127A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CONTEXTO</a:t>
            </a:r>
            <a:endParaRPr lang="es-CL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9880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s-CL" sz="32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Qué hace la caja: 7 módulos de negocio</a:t>
            </a:r>
            <a:endParaRPr lang="es-CL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815975" y="1717675"/>
            <a:ext cx="2520950" cy="1797050"/>
          </a:xfrm>
          <a:prstGeom prst="roundRect">
            <a:avLst>
              <a:gd name="adj" fmla="val 5477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5" name="Image 0" descr="Sta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2350" y="1924050"/>
            <a:ext cx="279400" cy="279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2350" y="2279650"/>
            <a:ext cx="217144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s-CL" sz="17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Ofertas</a:t>
            </a:r>
            <a:endParaRPr lang="es-CL" sz="1700" noProof="0" dirty="0"/>
          </a:p>
        </p:txBody>
      </p:sp>
      <p:sp>
        <p:nvSpPr>
          <p:cNvPr id="7" name="Text 4"/>
          <p:cNvSpPr/>
          <p:nvPr/>
        </p:nvSpPr>
        <p:spPr>
          <a:xfrm>
            <a:off x="1022350" y="2614930"/>
            <a:ext cx="217144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Ofertas vigentes y su detalle.</a:t>
            </a:r>
            <a:endParaRPr lang="es-CL" sz="1300" noProof="0" dirty="0"/>
          </a:p>
        </p:txBody>
      </p:sp>
      <p:sp>
        <p:nvSpPr>
          <p:cNvPr id="8" name="Shape 5"/>
          <p:cNvSpPr/>
          <p:nvPr/>
        </p:nvSpPr>
        <p:spPr>
          <a:xfrm>
            <a:off x="3495675" y="1717675"/>
            <a:ext cx="2520950" cy="1797050"/>
          </a:xfrm>
          <a:prstGeom prst="roundRect">
            <a:avLst>
              <a:gd name="adj" fmla="val 5477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9" name="Image 1" descr="Activity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02050" y="1924050"/>
            <a:ext cx="279400" cy="27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02050" y="2279650"/>
            <a:ext cx="217144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s-CL" sz="17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Punto de venta</a:t>
            </a:r>
            <a:endParaRPr lang="es-CL" sz="1700" noProof="0" dirty="0"/>
          </a:p>
        </p:txBody>
      </p:sp>
      <p:sp>
        <p:nvSpPr>
          <p:cNvPr id="11" name="Text 7"/>
          <p:cNvSpPr/>
          <p:nvPr/>
        </p:nvSpPr>
        <p:spPr>
          <a:xfrm>
            <a:off x="3702050" y="2614930"/>
            <a:ext cx="217144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Venta, pagos, apertura y cierre de caja, Transbank.</a:t>
            </a:r>
            <a:endParaRPr lang="es-CL" sz="1300" noProof="0" dirty="0"/>
          </a:p>
        </p:txBody>
      </p:sp>
      <p:sp>
        <p:nvSpPr>
          <p:cNvPr id="12" name="Shape 8"/>
          <p:cNvSpPr/>
          <p:nvPr/>
        </p:nvSpPr>
        <p:spPr>
          <a:xfrm>
            <a:off x="6175375" y="1717675"/>
            <a:ext cx="2520950" cy="1797050"/>
          </a:xfrm>
          <a:prstGeom prst="roundRect">
            <a:avLst>
              <a:gd name="adj" fmla="val 5477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13" name="Image 2" descr="CheckCircl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81750" y="1924050"/>
            <a:ext cx="279400" cy="279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81750" y="2279650"/>
            <a:ext cx="217144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s-CL" sz="17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Cobranzas</a:t>
            </a:r>
            <a:endParaRPr lang="es-CL" sz="1700" noProof="0" dirty="0"/>
          </a:p>
        </p:txBody>
      </p:sp>
      <p:sp>
        <p:nvSpPr>
          <p:cNvPr id="15" name="Text 10"/>
          <p:cNvSpPr/>
          <p:nvPr/>
        </p:nvSpPr>
        <p:spPr>
          <a:xfrm>
            <a:off x="6381750" y="2614930"/>
            <a:ext cx="217144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Recaudación, documentos pendientes, cuotas y acuerdos.</a:t>
            </a:r>
            <a:endParaRPr lang="es-CL" sz="1300" noProof="0" dirty="0"/>
          </a:p>
        </p:txBody>
      </p:sp>
      <p:sp>
        <p:nvSpPr>
          <p:cNvPr id="16" name="Shape 11"/>
          <p:cNvSpPr/>
          <p:nvPr/>
        </p:nvSpPr>
        <p:spPr>
          <a:xfrm>
            <a:off x="8855075" y="1717675"/>
            <a:ext cx="2520950" cy="1797050"/>
          </a:xfrm>
          <a:prstGeom prst="roundRect">
            <a:avLst>
              <a:gd name="adj" fmla="val 5477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17" name="Image 3" descr="Trust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61450" y="1924050"/>
            <a:ext cx="279400" cy="279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61450" y="2279650"/>
            <a:ext cx="217144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s-CL" sz="17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Devoluciones</a:t>
            </a:r>
            <a:endParaRPr lang="es-CL" sz="1700" noProof="0" dirty="0"/>
          </a:p>
        </p:txBody>
      </p:sp>
      <p:sp>
        <p:nvSpPr>
          <p:cNvPr id="19" name="Text 13"/>
          <p:cNvSpPr/>
          <p:nvPr/>
        </p:nvSpPr>
        <p:spPr>
          <a:xfrm>
            <a:off x="9061450" y="2614930"/>
            <a:ext cx="217144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Notas de crédito y devolución de dinero.</a:t>
            </a:r>
            <a:endParaRPr lang="es-CL" sz="1300" noProof="0" dirty="0"/>
          </a:p>
        </p:txBody>
      </p:sp>
      <p:sp>
        <p:nvSpPr>
          <p:cNvPr id="20" name="Shape 14"/>
          <p:cNvSpPr/>
          <p:nvPr/>
        </p:nvSpPr>
        <p:spPr>
          <a:xfrm>
            <a:off x="815975" y="3673475"/>
            <a:ext cx="2520950" cy="1797050"/>
          </a:xfrm>
          <a:prstGeom prst="roundRect">
            <a:avLst>
              <a:gd name="adj" fmla="val 5477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21" name="Image 4" descr="Chart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22350" y="3879850"/>
            <a:ext cx="279400" cy="279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22350" y="4235450"/>
            <a:ext cx="217144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s-CL" sz="17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Reportes</a:t>
            </a:r>
            <a:endParaRPr lang="es-CL" sz="1700" noProof="0" dirty="0"/>
          </a:p>
        </p:txBody>
      </p:sp>
      <p:sp>
        <p:nvSpPr>
          <p:cNvPr id="23" name="Text 16"/>
          <p:cNvSpPr/>
          <p:nvPr/>
        </p:nvSpPr>
        <p:spPr>
          <a:xfrm>
            <a:off x="1022350" y="4570730"/>
            <a:ext cx="217144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Ventas, recaudación, cierre e informe Z.</a:t>
            </a:r>
            <a:endParaRPr lang="es-CL" sz="1300" noProof="0" dirty="0"/>
          </a:p>
        </p:txBody>
      </p:sp>
      <p:sp>
        <p:nvSpPr>
          <p:cNvPr id="24" name="Shape 17"/>
          <p:cNvSpPr/>
          <p:nvPr/>
        </p:nvSpPr>
        <p:spPr>
          <a:xfrm>
            <a:off x="3495675" y="3673475"/>
            <a:ext cx="2520950" cy="1797050"/>
          </a:xfrm>
          <a:prstGeom prst="roundRect">
            <a:avLst>
              <a:gd name="adj" fmla="val 5477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25" name="Image 5" descr="Settings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702050" y="3879850"/>
            <a:ext cx="279400" cy="2794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702050" y="4235450"/>
            <a:ext cx="217144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s-CL" sz="17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Configuraciones</a:t>
            </a:r>
            <a:endParaRPr lang="es-CL" sz="1700" noProof="0" dirty="0"/>
          </a:p>
        </p:txBody>
      </p:sp>
      <p:sp>
        <p:nvSpPr>
          <p:cNvPr id="27" name="Text 19"/>
          <p:cNvSpPr/>
          <p:nvPr/>
        </p:nvSpPr>
        <p:spPr>
          <a:xfrm>
            <a:off x="3702050" y="4570730"/>
            <a:ext cx="217144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Clientes, usuarios, perfiles y parámetros.</a:t>
            </a:r>
            <a:endParaRPr lang="es-CL" sz="1300" noProof="0" dirty="0"/>
          </a:p>
        </p:txBody>
      </p:sp>
      <p:sp>
        <p:nvSpPr>
          <p:cNvPr id="28" name="Shape 20"/>
          <p:cNvSpPr/>
          <p:nvPr/>
        </p:nvSpPr>
        <p:spPr>
          <a:xfrm>
            <a:off x="6175375" y="3673475"/>
            <a:ext cx="2520950" cy="1797050"/>
          </a:xfrm>
          <a:prstGeom prst="roundRect">
            <a:avLst>
              <a:gd name="adj" fmla="val 5477"/>
            </a:avLst>
          </a:prstGeom>
          <a:solidFill>
            <a:srgbClr val="E4F3F0"/>
          </a:solidFill>
          <a:ln w="6350">
            <a:solidFill>
              <a:srgbClr val="B9DFD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29" name="Image 6" descr="Cloud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381750" y="3879850"/>
            <a:ext cx="279400" cy="2794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381750" y="4235450"/>
            <a:ext cx="217144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s-CL" sz="17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Sincronizador</a:t>
            </a:r>
            <a:endParaRPr lang="es-CL" sz="1700" noProof="0" dirty="0"/>
          </a:p>
        </p:txBody>
      </p:sp>
      <p:sp>
        <p:nvSpPr>
          <p:cNvPr id="31" name="Text 22"/>
          <p:cNvSpPr/>
          <p:nvPr/>
        </p:nvSpPr>
        <p:spPr>
          <a:xfrm>
            <a:off x="6381750" y="4570730"/>
            <a:ext cx="217144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Tablero de integración: mensajes, entidades y errores.</a:t>
            </a:r>
            <a:endParaRPr lang="es-CL" sz="1300" noProof="0" dirty="0"/>
          </a:p>
        </p:txBody>
      </p:sp>
      <p:sp>
        <p:nvSpPr>
          <p:cNvPr id="32" name="Shape 23"/>
          <p:cNvSpPr/>
          <p:nvPr/>
        </p:nvSpPr>
        <p:spPr>
          <a:xfrm>
            <a:off x="8851900" y="3670300"/>
            <a:ext cx="2527300" cy="1803400"/>
          </a:xfrm>
          <a:prstGeom prst="roundRect">
            <a:avLst>
              <a:gd name="adj" fmla="val 5634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3" name="Text 24"/>
          <p:cNvSpPr/>
          <p:nvPr/>
        </p:nvSpPr>
        <p:spPr>
          <a:xfrm>
            <a:off x="9055100" y="4109720"/>
            <a:ext cx="2184527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noProof="0" dirty="0">
                <a:solidFill>
                  <a:srgbClr val="E3ED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Todo vive en </a:t>
            </a:r>
            <a:r>
              <a:rPr lang="es-CL" sz="1300" b="1" noProof="0" dirty="0">
                <a:solidFill>
                  <a:srgbClr val="E3ED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sola aplicación web</a:t>
            </a:r>
            <a:r>
              <a:rPr lang="es-CL" sz="1300" noProof="0" dirty="0">
                <a:solidFill>
                  <a:srgbClr val="E3ED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cada módulo se abre por su propia ruta.</a:t>
            </a:r>
            <a:endParaRPr lang="es-CL" sz="1300" noProof="0" dirty="0"/>
          </a:p>
        </p:txBody>
      </p:sp>
      <p:sp>
        <p:nvSpPr>
          <p:cNvPr id="41" name="Forma libre: forma 40">
            <a:extLst>
              <a:ext uri="{FF2B5EF4-FFF2-40B4-BE49-F238E27FC236}">
                <a16:creationId xmlns:a16="http://schemas.microsoft.com/office/drawing/2014/main" id="{060128F0-E918-2494-FA1E-FE3542A615ED}"/>
              </a:ext>
            </a:extLst>
          </p:cNvPr>
          <p:cNvSpPr/>
          <p:nvPr/>
        </p:nvSpPr>
        <p:spPr>
          <a:xfrm flipH="1">
            <a:off x="10753493" y="6626345"/>
            <a:ext cx="1438507" cy="231655"/>
          </a:xfrm>
          <a:custGeom>
            <a:avLst/>
            <a:gdLst>
              <a:gd name="csX0" fmla="*/ 0 w 2456496"/>
              <a:gd name="csY0" fmla="*/ 93 h 518929"/>
              <a:gd name="csX1" fmla="*/ 2278421 w 2456496"/>
              <a:gd name="csY1" fmla="*/ 93 h 518929"/>
              <a:gd name="csX2" fmla="*/ 2456497 w 2456496"/>
              <a:gd name="csY2" fmla="*/ 178170 h 518929"/>
              <a:gd name="csX3" fmla="*/ 2456497 w 2456496"/>
              <a:gd name="csY3" fmla="*/ 518930 h 518929"/>
              <a:gd name="csX4" fmla="*/ 0 w 2456496"/>
              <a:gd name="csY4" fmla="*/ 518930 h 518929"/>
              <a:gd name="csX5" fmla="*/ 0 w 2456496"/>
              <a:gd name="csY5" fmla="*/ 0 h 518929"/>
              <a:gd name="csX6" fmla="*/ 0 w 2456496"/>
              <a:gd name="csY6" fmla="*/ 0 h 5189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56496" h="518929">
                <a:moveTo>
                  <a:pt x="0" y="93"/>
                </a:moveTo>
                <a:lnTo>
                  <a:pt x="2278421" y="93"/>
                </a:lnTo>
                <a:cubicBezTo>
                  <a:pt x="2376740" y="93"/>
                  <a:pt x="2456497" y="79943"/>
                  <a:pt x="2456497" y="178170"/>
                </a:cubicBezTo>
                <a:lnTo>
                  <a:pt x="2456497" y="518930"/>
                </a:lnTo>
                <a:lnTo>
                  <a:pt x="0" y="51893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9581"/>
          </a:solidFill>
          <a:ln w="9328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2" name="Imagen 41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836371AE-07DB-CB12-A875-D91132D1DB7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131" y="6161339"/>
            <a:ext cx="1096557" cy="801914"/>
          </a:xfrm>
          <a:prstGeom prst="rect">
            <a:avLst/>
          </a:prstGeom>
        </p:spPr>
      </p:pic>
      <p:grpSp>
        <p:nvGrpSpPr>
          <p:cNvPr id="43" name="Grupo 42">
            <a:extLst>
              <a:ext uri="{FF2B5EF4-FFF2-40B4-BE49-F238E27FC236}">
                <a16:creationId xmlns:a16="http://schemas.microsoft.com/office/drawing/2014/main" id="{0C2F743A-0E44-D1EF-A5DC-C08C8C94B3E7}"/>
              </a:ext>
            </a:extLst>
          </p:cNvPr>
          <p:cNvGrpSpPr/>
          <p:nvPr/>
        </p:nvGrpSpPr>
        <p:grpSpPr>
          <a:xfrm>
            <a:off x="448370" y="6522174"/>
            <a:ext cx="3712788" cy="261610"/>
            <a:chOff x="448370" y="6513296"/>
            <a:chExt cx="3712788" cy="261610"/>
          </a:xfrm>
        </p:grpSpPr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5729FD96-731F-25F9-D38F-3E8716D2AAD2}"/>
                </a:ext>
              </a:extLst>
            </p:cNvPr>
            <p:cNvGrpSpPr/>
            <p:nvPr userDrawn="1"/>
          </p:nvGrpSpPr>
          <p:grpSpPr>
            <a:xfrm>
              <a:off x="448370" y="6513296"/>
              <a:ext cx="2978937" cy="261610"/>
              <a:chOff x="9047344" y="6512423"/>
              <a:chExt cx="3340699" cy="261610"/>
            </a:xfrm>
          </p:grpSpPr>
          <p:sp>
            <p:nvSpPr>
              <p:cNvPr id="49" name="Forma libre: forma 48">
                <a:extLst>
                  <a:ext uri="{FF2B5EF4-FFF2-40B4-BE49-F238E27FC236}">
                    <a16:creationId xmlns:a16="http://schemas.microsoft.com/office/drawing/2014/main" id="{D93E5052-4786-61CA-6EB1-3687FE4445A8}"/>
                  </a:ext>
                </a:extLst>
              </p:cNvPr>
              <p:cNvSpPr/>
              <p:nvPr userDrawn="1"/>
            </p:nvSpPr>
            <p:spPr>
              <a:xfrm>
                <a:off x="9107601" y="6534430"/>
                <a:ext cx="2964589" cy="210603"/>
              </a:xfrm>
              <a:custGeom>
                <a:avLst/>
                <a:gdLst>
                  <a:gd name="csX0" fmla="*/ 2407524 w 2585599"/>
                  <a:gd name="csY0" fmla="*/ 0 h 518836"/>
                  <a:gd name="csX1" fmla="*/ 0 w 2585599"/>
                  <a:gd name="csY1" fmla="*/ 0 h 518836"/>
                  <a:gd name="csX2" fmla="*/ 0 w 2585599"/>
                  <a:gd name="csY2" fmla="*/ 340761 h 518836"/>
                  <a:gd name="csX3" fmla="*/ 178076 w 2585599"/>
                  <a:gd name="csY3" fmla="*/ 518836 h 518836"/>
                  <a:gd name="csX4" fmla="*/ 2585600 w 2585599"/>
                  <a:gd name="csY4" fmla="*/ 518836 h 518836"/>
                  <a:gd name="csX5" fmla="*/ 2585600 w 2585599"/>
                  <a:gd name="csY5" fmla="*/ 178076 h 518836"/>
                  <a:gd name="csX6" fmla="*/ 2407524 w 2585599"/>
                  <a:gd name="csY6" fmla="*/ 0 h 5188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585599" h="518836">
                    <a:moveTo>
                      <a:pt x="2407524" y="0"/>
                    </a:moveTo>
                    <a:lnTo>
                      <a:pt x="0" y="0"/>
                    </a:lnTo>
                    <a:lnTo>
                      <a:pt x="0" y="340761"/>
                    </a:lnTo>
                    <a:cubicBezTo>
                      <a:pt x="0" y="439080"/>
                      <a:pt x="79756" y="518836"/>
                      <a:pt x="178076" y="518836"/>
                    </a:cubicBezTo>
                    <a:lnTo>
                      <a:pt x="2585600" y="518836"/>
                    </a:lnTo>
                    <a:lnTo>
                      <a:pt x="2585600" y="178076"/>
                    </a:lnTo>
                    <a:cubicBezTo>
                      <a:pt x="2585600" y="79756"/>
                      <a:pt x="2505843" y="0"/>
                      <a:pt x="2407524" y="0"/>
                    </a:cubicBezTo>
                    <a:close/>
                  </a:path>
                </a:pathLst>
              </a:custGeom>
              <a:solidFill>
                <a:srgbClr val="046EB6"/>
              </a:solidFill>
              <a:ln w="9328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6EB6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9E05FEA3-2691-F27E-1181-38117EFFE97F}"/>
                  </a:ext>
                </a:extLst>
              </p:cNvPr>
              <p:cNvSpPr txBox="1"/>
              <p:nvPr userDrawn="1"/>
            </p:nvSpPr>
            <p:spPr>
              <a:xfrm>
                <a:off x="9047344" y="6512423"/>
                <a:ext cx="334069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L" sz="1050" b="1" i="1" u="none" strike="noStrike" kern="1200" cap="none" spc="0" normalizeH="0" baseline="0" noProof="0" dirty="0">
                    <a:ln/>
                    <a:solidFill>
                      <a:srgbClr val="FFFFFF"/>
                    </a:solidFill>
                    <a:effectLst/>
                    <a:uLnTx/>
                    <a:uFillTx/>
                    <a:latin typeface="Acumin Variable Concept"/>
                    <a:ea typeface="+mn-ea"/>
                    <a:cs typeface="+mn-cs"/>
                    <a:sym typeface="Acumin Variable Concept"/>
                    <a:rtl val="0"/>
                  </a:rPr>
                  <a:t>EL SUPERMERCADO DEL TRANSPORTE</a:t>
                </a:r>
              </a:p>
            </p:txBody>
          </p:sp>
        </p:grpSp>
        <p:grpSp>
          <p:nvGrpSpPr>
            <p:cNvPr id="45" name="Gráfico 4">
              <a:extLst>
                <a:ext uri="{FF2B5EF4-FFF2-40B4-BE49-F238E27FC236}">
                  <a16:creationId xmlns:a16="http://schemas.microsoft.com/office/drawing/2014/main" id="{A01BF11B-991C-D11F-57EE-F9DA6D16DB6B}"/>
                </a:ext>
              </a:extLst>
            </p:cNvPr>
            <p:cNvGrpSpPr/>
            <p:nvPr userDrawn="1"/>
          </p:nvGrpSpPr>
          <p:grpSpPr>
            <a:xfrm>
              <a:off x="3427306" y="6567844"/>
              <a:ext cx="733852" cy="145520"/>
              <a:chOff x="2672165" y="6438007"/>
              <a:chExt cx="733852" cy="145520"/>
            </a:xfrm>
          </p:grpSpPr>
          <p:pic>
            <p:nvPicPr>
              <p:cNvPr id="46" name="Imagen 45">
                <a:extLst>
                  <a:ext uri="{FF2B5EF4-FFF2-40B4-BE49-F238E27FC236}">
                    <a16:creationId xmlns:a16="http://schemas.microsoft.com/office/drawing/2014/main" id="{E00D3CF6-5179-A25B-8204-A9AED13247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72165" y="6438007"/>
                <a:ext cx="215855" cy="145520"/>
              </a:xfrm>
              <a:custGeom>
                <a:avLst/>
                <a:gdLst>
                  <a:gd name="csX0" fmla="*/ 209 w 215855"/>
                  <a:gd name="csY0" fmla="*/ 638 h 145520"/>
                  <a:gd name="csX1" fmla="*/ 216064 w 215855"/>
                  <a:gd name="csY1" fmla="*/ 638 h 145520"/>
                  <a:gd name="csX2" fmla="*/ 216064 w 215855"/>
                  <a:gd name="csY2" fmla="*/ 146158 h 145520"/>
                  <a:gd name="csX3" fmla="*/ 209 w 215855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5855" h="145520">
                    <a:moveTo>
                      <a:pt x="209" y="638"/>
                    </a:moveTo>
                    <a:lnTo>
                      <a:pt x="216064" y="638"/>
                    </a:lnTo>
                    <a:lnTo>
                      <a:pt x="216064" y="146158"/>
                    </a:lnTo>
                    <a:lnTo>
                      <a:pt x="209" y="146158"/>
                    </a:lnTo>
                    <a:close/>
                  </a:path>
                </a:pathLst>
              </a:custGeom>
            </p:spPr>
          </p:pic>
          <p:pic>
            <p:nvPicPr>
              <p:cNvPr id="47" name="Imagen 46">
                <a:extLst>
                  <a:ext uri="{FF2B5EF4-FFF2-40B4-BE49-F238E27FC236}">
                    <a16:creationId xmlns:a16="http://schemas.microsoft.com/office/drawing/2014/main" id="{27A24FB2-73C7-425E-E3D6-D20D581F21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34755" y="6438007"/>
                <a:ext cx="214642" cy="145520"/>
              </a:xfrm>
              <a:custGeom>
                <a:avLst/>
                <a:gdLst>
                  <a:gd name="csX0" fmla="*/ 238 w 214642"/>
                  <a:gd name="csY0" fmla="*/ 638 h 145520"/>
                  <a:gd name="csX1" fmla="*/ 214880 w 214642"/>
                  <a:gd name="csY1" fmla="*/ 638 h 145520"/>
                  <a:gd name="csX2" fmla="*/ 214880 w 214642"/>
                  <a:gd name="csY2" fmla="*/ 146158 h 145520"/>
                  <a:gd name="csX3" fmla="*/ 238 w 214642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4642" h="145520">
                    <a:moveTo>
                      <a:pt x="238" y="638"/>
                    </a:moveTo>
                    <a:lnTo>
                      <a:pt x="214880" y="638"/>
                    </a:lnTo>
                    <a:lnTo>
                      <a:pt x="214880" y="146158"/>
                    </a:lnTo>
                    <a:lnTo>
                      <a:pt x="238" y="146158"/>
                    </a:lnTo>
                    <a:close/>
                  </a:path>
                </a:pathLst>
              </a:custGeom>
            </p:spPr>
          </p:pic>
          <p:pic>
            <p:nvPicPr>
              <p:cNvPr id="48" name="Imagen 47">
                <a:extLst>
                  <a:ext uri="{FF2B5EF4-FFF2-40B4-BE49-F238E27FC236}">
                    <a16:creationId xmlns:a16="http://schemas.microsoft.com/office/drawing/2014/main" id="{3E0CF825-DF5C-CBCB-7500-88CE5CCFEA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96225" y="6438007"/>
                <a:ext cx="209791" cy="145520"/>
              </a:xfrm>
              <a:custGeom>
                <a:avLst/>
                <a:gdLst>
                  <a:gd name="csX0" fmla="*/ 267 w 209791"/>
                  <a:gd name="csY0" fmla="*/ 638 h 145520"/>
                  <a:gd name="csX1" fmla="*/ 210059 w 209791"/>
                  <a:gd name="csY1" fmla="*/ 638 h 145520"/>
                  <a:gd name="csX2" fmla="*/ 210059 w 209791"/>
                  <a:gd name="csY2" fmla="*/ 146158 h 145520"/>
                  <a:gd name="csX3" fmla="*/ 267 w 209791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09791" h="145520">
                    <a:moveTo>
                      <a:pt x="267" y="638"/>
                    </a:moveTo>
                    <a:lnTo>
                      <a:pt x="210059" y="638"/>
                    </a:lnTo>
                    <a:lnTo>
                      <a:pt x="210059" y="146158"/>
                    </a:lnTo>
                    <a:lnTo>
                      <a:pt x="267" y="146158"/>
                    </a:lnTo>
                    <a:close/>
                  </a:path>
                </a:pathLst>
              </a:custGeom>
            </p:spPr>
          </p:pic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b="1" kern="0" spc="150" noProof="0" dirty="0">
                <a:solidFill>
                  <a:srgbClr val="127A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ARQUITECTURA GENERAL</a:t>
            </a:r>
            <a:endParaRPr lang="es-CL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9880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s-CL" sz="32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Cuatro capas, de la caja al ERP</a:t>
            </a:r>
            <a:endParaRPr lang="es-CL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815975" y="1692275"/>
            <a:ext cx="2520950" cy="2768600"/>
          </a:xfrm>
          <a:prstGeom prst="roundRect">
            <a:avLst>
              <a:gd name="adj" fmla="val 3904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1022350" y="1898650"/>
            <a:ext cx="21714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b="1" kern="0" spc="100" noProof="0" dirty="0">
                <a:solidFill>
                  <a:srgbClr val="5B67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CAPA 1</a:t>
            </a:r>
            <a:endParaRPr lang="es-CL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1022350" y="2200911"/>
            <a:ext cx="217144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L" sz="18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Presentación</a:t>
            </a:r>
            <a:endParaRPr lang="es-CL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1022350" y="2564130"/>
            <a:ext cx="2171446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s-CL" sz="1300" noProof="0" dirty="0">
                <a:solidFill>
                  <a:srgbClr val="046EB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que ve y toca el cajero</a:t>
            </a:r>
            <a:endParaRPr lang="es-CL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1022350" y="2875914"/>
            <a:ext cx="2171446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68656" algn="l">
              <a:lnSpc>
                <a:spcPts val="1820"/>
              </a:lnSpc>
              <a:buSzPct val="100000"/>
              <a:buChar char="•"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Aplicación web de caja</a:t>
            </a:r>
            <a:endParaRPr lang="es-CL" sz="1300" noProof="0" dirty="0"/>
          </a:p>
          <a:p>
            <a:pPr marL="198120" indent="-168656" algn="l">
              <a:lnSpc>
                <a:spcPts val="1820"/>
              </a:lnSpc>
              <a:buSzPct val="100000"/>
              <a:buChar char="•"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Agente de impresión</a:t>
            </a:r>
            <a:endParaRPr lang="es-CL" sz="1300" noProof="0" dirty="0"/>
          </a:p>
          <a:p>
            <a:pPr marL="198120" indent="-168656" algn="l">
              <a:lnSpc>
                <a:spcPts val="1820"/>
              </a:lnSpc>
              <a:buSzPct val="100000"/>
              <a:buChar char="•"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Agente Transbank + terminal</a:t>
            </a:r>
            <a:endParaRPr lang="es-CL" sz="1300" noProof="0" dirty="0"/>
          </a:p>
        </p:txBody>
      </p:sp>
      <p:sp>
        <p:nvSpPr>
          <p:cNvPr id="9" name="Shape 7"/>
          <p:cNvSpPr/>
          <p:nvPr/>
        </p:nvSpPr>
        <p:spPr>
          <a:xfrm>
            <a:off x="3495675" y="1692275"/>
            <a:ext cx="2520950" cy="2768600"/>
          </a:xfrm>
          <a:prstGeom prst="roundRect">
            <a:avLst>
              <a:gd name="adj" fmla="val 3904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8"/>
          <p:cNvSpPr/>
          <p:nvPr/>
        </p:nvSpPr>
        <p:spPr>
          <a:xfrm>
            <a:off x="3702050" y="1898650"/>
            <a:ext cx="21714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b="1" kern="0" spc="100" noProof="0" dirty="0">
                <a:solidFill>
                  <a:srgbClr val="5B67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CAPA 2</a:t>
            </a:r>
            <a:endParaRPr lang="es-CL" sz="1200" noProof="0" dirty="0"/>
          </a:p>
        </p:txBody>
      </p:sp>
      <p:sp>
        <p:nvSpPr>
          <p:cNvPr id="11" name="Text 9"/>
          <p:cNvSpPr/>
          <p:nvPr/>
        </p:nvSpPr>
        <p:spPr>
          <a:xfrm>
            <a:off x="3702050" y="2200911"/>
            <a:ext cx="217144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L" sz="18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Negocio y datos</a:t>
            </a:r>
            <a:endParaRPr lang="es-CL" sz="1800" noProof="0" dirty="0"/>
          </a:p>
        </p:txBody>
      </p:sp>
      <p:sp>
        <p:nvSpPr>
          <p:cNvPr id="12" name="Text 10"/>
          <p:cNvSpPr/>
          <p:nvPr/>
        </p:nvSpPr>
        <p:spPr>
          <a:xfrm>
            <a:off x="3702050" y="2564130"/>
            <a:ext cx="217144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s-CL" sz="1300" noProof="0" dirty="0">
                <a:solidFill>
                  <a:srgbClr val="046EB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Reglas de caja, ventas, pagos y DTE</a:t>
            </a:r>
            <a:endParaRPr lang="es-CL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3702050" y="3098800"/>
            <a:ext cx="2171446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68656" algn="l">
              <a:lnSpc>
                <a:spcPts val="1820"/>
              </a:lnSpc>
              <a:buSzPct val="100000"/>
              <a:buChar char="•"/>
            </a:pPr>
            <a:r>
              <a:rPr lang="es-CL" sz="1300" noProof="0" dirty="0" err="1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Backend</a:t>
            </a: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caja</a:t>
            </a:r>
            <a:endParaRPr lang="es-CL" sz="1300" noProof="0" dirty="0"/>
          </a:p>
          <a:p>
            <a:pPr marL="198120" indent="-168656" algn="l">
              <a:lnSpc>
                <a:spcPts val="1820"/>
              </a:lnSpc>
              <a:buSzPct val="100000"/>
              <a:buChar char="•"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 de datos de la sucursal</a:t>
            </a:r>
            <a:endParaRPr lang="es-CL" sz="1300" noProof="0" dirty="0"/>
          </a:p>
          <a:p>
            <a:pPr marL="198120" indent="-168656" algn="l">
              <a:lnSpc>
                <a:spcPts val="1820"/>
              </a:lnSpc>
              <a:buSzPct val="100000"/>
              <a:buChar char="•"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Facturación electrónica</a:t>
            </a:r>
            <a:endParaRPr lang="es-CL" sz="1300" noProof="0" dirty="0"/>
          </a:p>
        </p:txBody>
      </p:sp>
      <p:sp>
        <p:nvSpPr>
          <p:cNvPr id="14" name="Shape 12"/>
          <p:cNvSpPr/>
          <p:nvPr/>
        </p:nvSpPr>
        <p:spPr>
          <a:xfrm>
            <a:off x="6175375" y="1692275"/>
            <a:ext cx="2520950" cy="2768600"/>
          </a:xfrm>
          <a:prstGeom prst="roundRect">
            <a:avLst>
              <a:gd name="adj" fmla="val 3904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 13"/>
          <p:cNvSpPr/>
          <p:nvPr/>
        </p:nvSpPr>
        <p:spPr>
          <a:xfrm>
            <a:off x="6381750" y="1898650"/>
            <a:ext cx="21714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b="1" kern="0" spc="100" noProof="0" dirty="0">
                <a:solidFill>
                  <a:srgbClr val="5B67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CAPA 3</a:t>
            </a:r>
            <a:endParaRPr lang="es-CL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6381750" y="2200911"/>
            <a:ext cx="217144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L" sz="18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Integración</a:t>
            </a:r>
            <a:endParaRPr lang="es-CL" sz="1800" noProof="0" dirty="0"/>
          </a:p>
        </p:txBody>
      </p:sp>
      <p:sp>
        <p:nvSpPr>
          <p:cNvPr id="17" name="Text 15"/>
          <p:cNvSpPr/>
          <p:nvPr/>
        </p:nvSpPr>
        <p:spPr>
          <a:xfrm>
            <a:off x="6381750" y="2564130"/>
            <a:ext cx="217144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s-CL" sz="1300" noProof="0" dirty="0">
                <a:solidFill>
                  <a:srgbClr val="046EB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Sube ventas a AX y baja maestros a las tiendas</a:t>
            </a:r>
            <a:endParaRPr lang="es-CL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6381750" y="3098800"/>
            <a:ext cx="2171446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68656" algn="l">
              <a:lnSpc>
                <a:spcPts val="1820"/>
              </a:lnSpc>
              <a:buSzPct val="100000"/>
              <a:buChar char="•"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Sincronizador de sucursal</a:t>
            </a:r>
            <a:endParaRPr lang="es-CL" sz="1300" noProof="0" dirty="0"/>
          </a:p>
          <a:p>
            <a:pPr marL="198120" indent="-168656" algn="l">
              <a:lnSpc>
                <a:spcPts val="1820"/>
              </a:lnSpc>
              <a:buSzPct val="100000"/>
              <a:buChar char="•"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 de integración central</a:t>
            </a:r>
            <a:endParaRPr lang="es-CL" sz="1300" noProof="0" dirty="0"/>
          </a:p>
          <a:p>
            <a:pPr marL="198120" indent="-168656" algn="l">
              <a:lnSpc>
                <a:spcPts val="1820"/>
              </a:lnSpc>
              <a:buSzPct val="100000"/>
              <a:buChar char="•"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Servicios del concentrador</a:t>
            </a:r>
            <a:endParaRPr lang="es-CL" sz="1300" noProof="0" dirty="0"/>
          </a:p>
        </p:txBody>
      </p:sp>
      <p:sp>
        <p:nvSpPr>
          <p:cNvPr id="19" name="Shape 17"/>
          <p:cNvSpPr/>
          <p:nvPr/>
        </p:nvSpPr>
        <p:spPr>
          <a:xfrm>
            <a:off x="8855075" y="1692275"/>
            <a:ext cx="2520950" cy="2768600"/>
          </a:xfrm>
          <a:prstGeom prst="roundRect">
            <a:avLst>
              <a:gd name="adj" fmla="val 3904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Text 18"/>
          <p:cNvSpPr/>
          <p:nvPr/>
        </p:nvSpPr>
        <p:spPr>
          <a:xfrm>
            <a:off x="9061450" y="1898650"/>
            <a:ext cx="21714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b="1" kern="0" spc="100" noProof="0" dirty="0">
                <a:solidFill>
                  <a:srgbClr val="5B67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CAPA 4</a:t>
            </a:r>
            <a:endParaRPr lang="es-CL" sz="1200" noProof="0" dirty="0"/>
          </a:p>
        </p:txBody>
      </p:sp>
      <p:sp>
        <p:nvSpPr>
          <p:cNvPr id="21" name="Text 19"/>
          <p:cNvSpPr/>
          <p:nvPr/>
        </p:nvSpPr>
        <p:spPr>
          <a:xfrm>
            <a:off x="9061450" y="2200911"/>
            <a:ext cx="217144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L" sz="18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ERP y externos</a:t>
            </a:r>
            <a:endParaRPr lang="es-CL" sz="1800" noProof="0" dirty="0"/>
          </a:p>
        </p:txBody>
      </p:sp>
      <p:sp>
        <p:nvSpPr>
          <p:cNvPr id="22" name="Text 20"/>
          <p:cNvSpPr/>
          <p:nvPr/>
        </p:nvSpPr>
        <p:spPr>
          <a:xfrm>
            <a:off x="9061450" y="2564130"/>
            <a:ext cx="2171446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s-CL" sz="1300" noProof="0" dirty="0">
                <a:solidFill>
                  <a:srgbClr val="046EB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Traduce al idioma de AX</a:t>
            </a:r>
            <a:endParaRPr lang="es-CL" sz="1300" noProof="0" dirty="0"/>
          </a:p>
        </p:txBody>
      </p:sp>
      <p:sp>
        <p:nvSpPr>
          <p:cNvPr id="23" name="Text 21"/>
          <p:cNvSpPr/>
          <p:nvPr/>
        </p:nvSpPr>
        <p:spPr>
          <a:xfrm>
            <a:off x="9061450" y="2875914"/>
            <a:ext cx="2171446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68656" algn="l">
              <a:lnSpc>
                <a:spcPts val="1820"/>
              </a:lnSpc>
              <a:buSzPct val="100000"/>
              <a:buChar char="•"/>
            </a:pPr>
            <a:r>
              <a:rPr lang="es-CL" sz="1300" noProof="0" dirty="0" err="1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APIs</a:t>
            </a: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integración con AX</a:t>
            </a:r>
            <a:endParaRPr lang="es-CL" sz="1300" noProof="0" dirty="0"/>
          </a:p>
          <a:p>
            <a:pPr marL="198120" indent="-168656" algn="l">
              <a:lnSpc>
                <a:spcPts val="1820"/>
              </a:lnSpc>
              <a:buSzPct val="100000"/>
              <a:buChar char="•"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Microsoft Dynamics AX</a:t>
            </a:r>
            <a:endParaRPr lang="es-CL" sz="1300" noProof="0" dirty="0"/>
          </a:p>
          <a:p>
            <a:pPr marL="198120" indent="-168656" algn="l">
              <a:lnSpc>
                <a:spcPts val="1820"/>
              </a:lnSpc>
              <a:buSzPct val="100000"/>
              <a:buChar char="•"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Servicios externos</a:t>
            </a:r>
            <a:endParaRPr lang="es-CL" sz="1300" noProof="0" dirty="0"/>
          </a:p>
        </p:txBody>
      </p:sp>
      <p:pic>
        <p:nvPicPr>
          <p:cNvPr id="25" name="Image 0" descr="Lightbulb"/>
          <p:cNvPicPr>
            <a:picLocks noChangeAspect="1"/>
          </p:cNvPicPr>
          <p:nvPr/>
        </p:nvPicPr>
        <p:blipFill>
          <a:blip r:embed="rId3"/>
          <a:srcRect t="-97" b="-97"/>
          <a:stretch/>
        </p:blipFill>
        <p:spPr>
          <a:xfrm>
            <a:off x="1041400" y="5005070"/>
            <a:ext cx="272521" cy="2794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477578" y="5022850"/>
            <a:ext cx="997480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s-CL" sz="1400" noProof="0" dirty="0">
                <a:solidFill>
                  <a:srgbClr val="1F2A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Las capas 1 y 2 son las que se tocan en un cambio funcional típico; en las capas 3 y 4 son de integración.</a:t>
            </a:r>
            <a:endParaRPr lang="es-CL" sz="1400" noProof="0" dirty="0"/>
          </a:p>
        </p:txBody>
      </p:sp>
      <p:sp>
        <p:nvSpPr>
          <p:cNvPr id="34" name="Forma libre: forma 33">
            <a:extLst>
              <a:ext uri="{FF2B5EF4-FFF2-40B4-BE49-F238E27FC236}">
                <a16:creationId xmlns:a16="http://schemas.microsoft.com/office/drawing/2014/main" id="{AA7C359D-4A00-98E4-E862-25BB61B4B0B4}"/>
              </a:ext>
            </a:extLst>
          </p:cNvPr>
          <p:cNvSpPr/>
          <p:nvPr/>
        </p:nvSpPr>
        <p:spPr>
          <a:xfrm flipH="1">
            <a:off x="10753493" y="6626345"/>
            <a:ext cx="1438507" cy="231655"/>
          </a:xfrm>
          <a:custGeom>
            <a:avLst/>
            <a:gdLst>
              <a:gd name="csX0" fmla="*/ 0 w 2456496"/>
              <a:gd name="csY0" fmla="*/ 93 h 518929"/>
              <a:gd name="csX1" fmla="*/ 2278421 w 2456496"/>
              <a:gd name="csY1" fmla="*/ 93 h 518929"/>
              <a:gd name="csX2" fmla="*/ 2456497 w 2456496"/>
              <a:gd name="csY2" fmla="*/ 178170 h 518929"/>
              <a:gd name="csX3" fmla="*/ 2456497 w 2456496"/>
              <a:gd name="csY3" fmla="*/ 518930 h 518929"/>
              <a:gd name="csX4" fmla="*/ 0 w 2456496"/>
              <a:gd name="csY4" fmla="*/ 518930 h 518929"/>
              <a:gd name="csX5" fmla="*/ 0 w 2456496"/>
              <a:gd name="csY5" fmla="*/ 0 h 518929"/>
              <a:gd name="csX6" fmla="*/ 0 w 2456496"/>
              <a:gd name="csY6" fmla="*/ 0 h 5189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56496" h="518929">
                <a:moveTo>
                  <a:pt x="0" y="93"/>
                </a:moveTo>
                <a:lnTo>
                  <a:pt x="2278421" y="93"/>
                </a:lnTo>
                <a:cubicBezTo>
                  <a:pt x="2376740" y="93"/>
                  <a:pt x="2456497" y="79943"/>
                  <a:pt x="2456497" y="178170"/>
                </a:cubicBezTo>
                <a:lnTo>
                  <a:pt x="2456497" y="518930"/>
                </a:lnTo>
                <a:lnTo>
                  <a:pt x="0" y="51893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9581"/>
          </a:solidFill>
          <a:ln w="9328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5" name="Imagen 3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352D6307-4D4F-00AD-837A-D43058C73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131" y="6161339"/>
            <a:ext cx="1096557" cy="801914"/>
          </a:xfrm>
          <a:prstGeom prst="rect">
            <a:avLst/>
          </a:prstGeom>
        </p:spPr>
      </p:pic>
      <p:grpSp>
        <p:nvGrpSpPr>
          <p:cNvPr id="36" name="Grupo 35">
            <a:extLst>
              <a:ext uri="{FF2B5EF4-FFF2-40B4-BE49-F238E27FC236}">
                <a16:creationId xmlns:a16="http://schemas.microsoft.com/office/drawing/2014/main" id="{591D3EC4-60CF-0482-009D-ABC9E926F396}"/>
              </a:ext>
            </a:extLst>
          </p:cNvPr>
          <p:cNvGrpSpPr/>
          <p:nvPr/>
        </p:nvGrpSpPr>
        <p:grpSpPr>
          <a:xfrm>
            <a:off x="448370" y="6522174"/>
            <a:ext cx="3712788" cy="261610"/>
            <a:chOff x="448370" y="6513296"/>
            <a:chExt cx="3712788" cy="261610"/>
          </a:xfrm>
        </p:grpSpPr>
        <p:grpSp>
          <p:nvGrpSpPr>
            <p:cNvPr id="37" name="Grupo 36">
              <a:extLst>
                <a:ext uri="{FF2B5EF4-FFF2-40B4-BE49-F238E27FC236}">
                  <a16:creationId xmlns:a16="http://schemas.microsoft.com/office/drawing/2014/main" id="{DEEF8E7D-4A78-E9D1-5B29-B3A0FFC6B600}"/>
                </a:ext>
              </a:extLst>
            </p:cNvPr>
            <p:cNvGrpSpPr/>
            <p:nvPr userDrawn="1"/>
          </p:nvGrpSpPr>
          <p:grpSpPr>
            <a:xfrm>
              <a:off x="448370" y="6513296"/>
              <a:ext cx="2978937" cy="261610"/>
              <a:chOff x="9047344" y="6512423"/>
              <a:chExt cx="3340699" cy="261610"/>
            </a:xfrm>
          </p:grpSpPr>
          <p:sp>
            <p:nvSpPr>
              <p:cNvPr id="42" name="Forma libre: forma 41">
                <a:extLst>
                  <a:ext uri="{FF2B5EF4-FFF2-40B4-BE49-F238E27FC236}">
                    <a16:creationId xmlns:a16="http://schemas.microsoft.com/office/drawing/2014/main" id="{D2B3261A-00BE-AB93-DCC0-3C8E54065DF6}"/>
                  </a:ext>
                </a:extLst>
              </p:cNvPr>
              <p:cNvSpPr/>
              <p:nvPr userDrawn="1"/>
            </p:nvSpPr>
            <p:spPr>
              <a:xfrm>
                <a:off x="9107601" y="6534430"/>
                <a:ext cx="2964589" cy="210603"/>
              </a:xfrm>
              <a:custGeom>
                <a:avLst/>
                <a:gdLst>
                  <a:gd name="csX0" fmla="*/ 2407524 w 2585599"/>
                  <a:gd name="csY0" fmla="*/ 0 h 518836"/>
                  <a:gd name="csX1" fmla="*/ 0 w 2585599"/>
                  <a:gd name="csY1" fmla="*/ 0 h 518836"/>
                  <a:gd name="csX2" fmla="*/ 0 w 2585599"/>
                  <a:gd name="csY2" fmla="*/ 340761 h 518836"/>
                  <a:gd name="csX3" fmla="*/ 178076 w 2585599"/>
                  <a:gd name="csY3" fmla="*/ 518836 h 518836"/>
                  <a:gd name="csX4" fmla="*/ 2585600 w 2585599"/>
                  <a:gd name="csY4" fmla="*/ 518836 h 518836"/>
                  <a:gd name="csX5" fmla="*/ 2585600 w 2585599"/>
                  <a:gd name="csY5" fmla="*/ 178076 h 518836"/>
                  <a:gd name="csX6" fmla="*/ 2407524 w 2585599"/>
                  <a:gd name="csY6" fmla="*/ 0 h 5188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585599" h="518836">
                    <a:moveTo>
                      <a:pt x="2407524" y="0"/>
                    </a:moveTo>
                    <a:lnTo>
                      <a:pt x="0" y="0"/>
                    </a:lnTo>
                    <a:lnTo>
                      <a:pt x="0" y="340761"/>
                    </a:lnTo>
                    <a:cubicBezTo>
                      <a:pt x="0" y="439080"/>
                      <a:pt x="79756" y="518836"/>
                      <a:pt x="178076" y="518836"/>
                    </a:cubicBezTo>
                    <a:lnTo>
                      <a:pt x="2585600" y="518836"/>
                    </a:lnTo>
                    <a:lnTo>
                      <a:pt x="2585600" y="178076"/>
                    </a:lnTo>
                    <a:cubicBezTo>
                      <a:pt x="2585600" y="79756"/>
                      <a:pt x="2505843" y="0"/>
                      <a:pt x="2407524" y="0"/>
                    </a:cubicBezTo>
                    <a:close/>
                  </a:path>
                </a:pathLst>
              </a:custGeom>
              <a:solidFill>
                <a:srgbClr val="046EB6"/>
              </a:solidFill>
              <a:ln w="9328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6EB6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AC10B925-460B-8C2C-A01C-2D8B55311A78}"/>
                  </a:ext>
                </a:extLst>
              </p:cNvPr>
              <p:cNvSpPr txBox="1"/>
              <p:nvPr userDrawn="1"/>
            </p:nvSpPr>
            <p:spPr>
              <a:xfrm>
                <a:off x="9047344" y="6512423"/>
                <a:ext cx="334069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L" sz="1050" b="1" i="1" u="none" strike="noStrike" kern="1200" cap="none" spc="0" normalizeH="0" baseline="0" noProof="0" dirty="0">
                    <a:ln/>
                    <a:solidFill>
                      <a:srgbClr val="FFFFFF"/>
                    </a:solidFill>
                    <a:effectLst/>
                    <a:uLnTx/>
                    <a:uFillTx/>
                    <a:latin typeface="Acumin Variable Concept"/>
                    <a:ea typeface="+mn-ea"/>
                    <a:cs typeface="+mn-cs"/>
                    <a:sym typeface="Acumin Variable Concept"/>
                    <a:rtl val="0"/>
                  </a:rPr>
                  <a:t>EL SUPERMERCADO DEL TRANSPORTE</a:t>
                </a:r>
              </a:p>
            </p:txBody>
          </p:sp>
        </p:grpSp>
        <p:grpSp>
          <p:nvGrpSpPr>
            <p:cNvPr id="38" name="Gráfico 4">
              <a:extLst>
                <a:ext uri="{FF2B5EF4-FFF2-40B4-BE49-F238E27FC236}">
                  <a16:creationId xmlns:a16="http://schemas.microsoft.com/office/drawing/2014/main" id="{CF0DAB59-8AC3-F52B-7924-680F59A71376}"/>
                </a:ext>
              </a:extLst>
            </p:cNvPr>
            <p:cNvGrpSpPr/>
            <p:nvPr userDrawn="1"/>
          </p:nvGrpSpPr>
          <p:grpSpPr>
            <a:xfrm>
              <a:off x="3427306" y="6567844"/>
              <a:ext cx="733852" cy="145520"/>
              <a:chOff x="2672165" y="6438007"/>
              <a:chExt cx="733852" cy="145520"/>
            </a:xfrm>
          </p:grpSpPr>
          <p:pic>
            <p:nvPicPr>
              <p:cNvPr id="39" name="Imagen 38">
                <a:extLst>
                  <a:ext uri="{FF2B5EF4-FFF2-40B4-BE49-F238E27FC236}">
                    <a16:creationId xmlns:a16="http://schemas.microsoft.com/office/drawing/2014/main" id="{1F157112-75B2-48DC-39D5-6C5D07AB87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72165" y="6438007"/>
                <a:ext cx="215855" cy="145520"/>
              </a:xfrm>
              <a:custGeom>
                <a:avLst/>
                <a:gdLst>
                  <a:gd name="csX0" fmla="*/ 209 w 215855"/>
                  <a:gd name="csY0" fmla="*/ 638 h 145520"/>
                  <a:gd name="csX1" fmla="*/ 216064 w 215855"/>
                  <a:gd name="csY1" fmla="*/ 638 h 145520"/>
                  <a:gd name="csX2" fmla="*/ 216064 w 215855"/>
                  <a:gd name="csY2" fmla="*/ 146158 h 145520"/>
                  <a:gd name="csX3" fmla="*/ 209 w 215855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5855" h="145520">
                    <a:moveTo>
                      <a:pt x="209" y="638"/>
                    </a:moveTo>
                    <a:lnTo>
                      <a:pt x="216064" y="638"/>
                    </a:lnTo>
                    <a:lnTo>
                      <a:pt x="216064" y="146158"/>
                    </a:lnTo>
                    <a:lnTo>
                      <a:pt x="209" y="146158"/>
                    </a:lnTo>
                    <a:close/>
                  </a:path>
                </a:pathLst>
              </a:cu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90BE66E0-0144-E3CE-FB41-59DF2C6768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34755" y="6438007"/>
                <a:ext cx="214642" cy="145520"/>
              </a:xfrm>
              <a:custGeom>
                <a:avLst/>
                <a:gdLst>
                  <a:gd name="csX0" fmla="*/ 238 w 214642"/>
                  <a:gd name="csY0" fmla="*/ 638 h 145520"/>
                  <a:gd name="csX1" fmla="*/ 214880 w 214642"/>
                  <a:gd name="csY1" fmla="*/ 638 h 145520"/>
                  <a:gd name="csX2" fmla="*/ 214880 w 214642"/>
                  <a:gd name="csY2" fmla="*/ 146158 h 145520"/>
                  <a:gd name="csX3" fmla="*/ 238 w 214642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4642" h="145520">
                    <a:moveTo>
                      <a:pt x="238" y="638"/>
                    </a:moveTo>
                    <a:lnTo>
                      <a:pt x="214880" y="638"/>
                    </a:lnTo>
                    <a:lnTo>
                      <a:pt x="214880" y="146158"/>
                    </a:lnTo>
                    <a:lnTo>
                      <a:pt x="238" y="146158"/>
                    </a:lnTo>
                    <a:close/>
                  </a:path>
                </a:pathLst>
              </a:custGeom>
            </p:spPr>
          </p:pic>
          <p:pic>
            <p:nvPicPr>
              <p:cNvPr id="41" name="Imagen 40">
                <a:extLst>
                  <a:ext uri="{FF2B5EF4-FFF2-40B4-BE49-F238E27FC236}">
                    <a16:creationId xmlns:a16="http://schemas.microsoft.com/office/drawing/2014/main" id="{0B7687DF-E820-4209-899F-455B2230A2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96225" y="6438007"/>
                <a:ext cx="209791" cy="145520"/>
              </a:xfrm>
              <a:custGeom>
                <a:avLst/>
                <a:gdLst>
                  <a:gd name="csX0" fmla="*/ 267 w 209791"/>
                  <a:gd name="csY0" fmla="*/ 638 h 145520"/>
                  <a:gd name="csX1" fmla="*/ 210059 w 209791"/>
                  <a:gd name="csY1" fmla="*/ 638 h 145520"/>
                  <a:gd name="csX2" fmla="*/ 210059 w 209791"/>
                  <a:gd name="csY2" fmla="*/ 146158 h 145520"/>
                  <a:gd name="csX3" fmla="*/ 267 w 209791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09791" h="145520">
                    <a:moveTo>
                      <a:pt x="267" y="638"/>
                    </a:moveTo>
                    <a:lnTo>
                      <a:pt x="210059" y="638"/>
                    </a:lnTo>
                    <a:lnTo>
                      <a:pt x="210059" y="146158"/>
                    </a:lnTo>
                    <a:lnTo>
                      <a:pt x="267" y="146158"/>
                    </a:lnTo>
                    <a:close/>
                  </a:path>
                </a:pathLst>
              </a:custGeom>
            </p:spPr>
          </p:pic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b="1" kern="0" spc="150" noProof="0" dirty="0">
                <a:solidFill>
                  <a:srgbClr val="127A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ARQUITECTURA GENERAL</a:t>
            </a:r>
            <a:endParaRPr lang="es-CL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885825"/>
            <a:ext cx="10883392" cy="415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70"/>
              </a:lnSpc>
              <a:buNone/>
            </a:pPr>
            <a:r>
              <a:rPr lang="es-CL" sz="2791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Vista completa del ecosistema</a:t>
            </a:r>
            <a:endParaRPr lang="es-CL" sz="2791" noProof="0" dirty="0"/>
          </a:p>
        </p:txBody>
      </p:sp>
      <p:pic>
        <p:nvPicPr>
          <p:cNvPr id="4" name="Image 0" descr="Diagrama de arquitectura del sistema de Caja Mountain en cuatro capas: puesto de caja y dispositivos locales, servicios de sucursal, integración sucursal y central, APIs de integración con Dynamics AX y sistemas externos"/>
          <p:cNvPicPr>
            <a:picLocks noChangeAspect="1"/>
          </p:cNvPicPr>
          <p:nvPr/>
        </p:nvPicPr>
        <p:blipFill>
          <a:blip r:embed="rId3"/>
          <a:srcRect l="-142" r="-142"/>
          <a:stretch/>
        </p:blipFill>
        <p:spPr>
          <a:xfrm>
            <a:off x="1968500" y="1453620"/>
            <a:ext cx="8255000" cy="4489979"/>
          </a:xfrm>
          <a:prstGeom prst="roundRect">
            <a:avLst>
              <a:gd name="adj" fmla="val 1697"/>
            </a:avLst>
          </a:prstGeom>
        </p:spPr>
      </p:pic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1F42913D-2DD4-BD22-35AF-360C10AC64BA}"/>
              </a:ext>
            </a:extLst>
          </p:cNvPr>
          <p:cNvSpPr/>
          <p:nvPr/>
        </p:nvSpPr>
        <p:spPr>
          <a:xfrm flipH="1">
            <a:off x="10753493" y="6626345"/>
            <a:ext cx="1438507" cy="231655"/>
          </a:xfrm>
          <a:custGeom>
            <a:avLst/>
            <a:gdLst>
              <a:gd name="csX0" fmla="*/ 0 w 2456496"/>
              <a:gd name="csY0" fmla="*/ 93 h 518929"/>
              <a:gd name="csX1" fmla="*/ 2278421 w 2456496"/>
              <a:gd name="csY1" fmla="*/ 93 h 518929"/>
              <a:gd name="csX2" fmla="*/ 2456497 w 2456496"/>
              <a:gd name="csY2" fmla="*/ 178170 h 518929"/>
              <a:gd name="csX3" fmla="*/ 2456497 w 2456496"/>
              <a:gd name="csY3" fmla="*/ 518930 h 518929"/>
              <a:gd name="csX4" fmla="*/ 0 w 2456496"/>
              <a:gd name="csY4" fmla="*/ 518930 h 518929"/>
              <a:gd name="csX5" fmla="*/ 0 w 2456496"/>
              <a:gd name="csY5" fmla="*/ 0 h 518929"/>
              <a:gd name="csX6" fmla="*/ 0 w 2456496"/>
              <a:gd name="csY6" fmla="*/ 0 h 5189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56496" h="518929">
                <a:moveTo>
                  <a:pt x="0" y="93"/>
                </a:moveTo>
                <a:lnTo>
                  <a:pt x="2278421" y="93"/>
                </a:lnTo>
                <a:cubicBezTo>
                  <a:pt x="2376740" y="93"/>
                  <a:pt x="2456497" y="79943"/>
                  <a:pt x="2456497" y="178170"/>
                </a:cubicBezTo>
                <a:lnTo>
                  <a:pt x="2456497" y="518930"/>
                </a:lnTo>
                <a:lnTo>
                  <a:pt x="0" y="51893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9581"/>
          </a:solidFill>
          <a:ln w="9328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3" name="Imagen 12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4E30E6E3-97FF-C20A-9E5B-4817836AD1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131" y="6161339"/>
            <a:ext cx="1096557" cy="801914"/>
          </a:xfrm>
          <a:prstGeom prst="rect">
            <a:avLst/>
          </a:prstGeom>
        </p:spPr>
      </p:pic>
      <p:grpSp>
        <p:nvGrpSpPr>
          <p:cNvPr id="14" name="Grupo 13">
            <a:extLst>
              <a:ext uri="{FF2B5EF4-FFF2-40B4-BE49-F238E27FC236}">
                <a16:creationId xmlns:a16="http://schemas.microsoft.com/office/drawing/2014/main" id="{84D292F7-2A14-ADF8-685C-5B27AF7676AA}"/>
              </a:ext>
            </a:extLst>
          </p:cNvPr>
          <p:cNvGrpSpPr/>
          <p:nvPr/>
        </p:nvGrpSpPr>
        <p:grpSpPr>
          <a:xfrm>
            <a:off x="448370" y="6522174"/>
            <a:ext cx="3712788" cy="261610"/>
            <a:chOff x="448370" y="6513296"/>
            <a:chExt cx="3712788" cy="261610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F5748FB2-3B21-E570-6280-61A0FDFFD274}"/>
                </a:ext>
              </a:extLst>
            </p:cNvPr>
            <p:cNvGrpSpPr/>
            <p:nvPr userDrawn="1"/>
          </p:nvGrpSpPr>
          <p:grpSpPr>
            <a:xfrm>
              <a:off x="448370" y="6513296"/>
              <a:ext cx="2978937" cy="261610"/>
              <a:chOff x="9047344" y="6512423"/>
              <a:chExt cx="3340699" cy="261610"/>
            </a:xfrm>
          </p:grpSpPr>
          <p:sp>
            <p:nvSpPr>
              <p:cNvPr id="20" name="Forma libre: forma 19">
                <a:extLst>
                  <a:ext uri="{FF2B5EF4-FFF2-40B4-BE49-F238E27FC236}">
                    <a16:creationId xmlns:a16="http://schemas.microsoft.com/office/drawing/2014/main" id="{7E2D711C-DCA1-0400-F32F-18AA3EDB19D1}"/>
                  </a:ext>
                </a:extLst>
              </p:cNvPr>
              <p:cNvSpPr/>
              <p:nvPr userDrawn="1"/>
            </p:nvSpPr>
            <p:spPr>
              <a:xfrm>
                <a:off x="9107601" y="6534430"/>
                <a:ext cx="2964589" cy="210603"/>
              </a:xfrm>
              <a:custGeom>
                <a:avLst/>
                <a:gdLst>
                  <a:gd name="csX0" fmla="*/ 2407524 w 2585599"/>
                  <a:gd name="csY0" fmla="*/ 0 h 518836"/>
                  <a:gd name="csX1" fmla="*/ 0 w 2585599"/>
                  <a:gd name="csY1" fmla="*/ 0 h 518836"/>
                  <a:gd name="csX2" fmla="*/ 0 w 2585599"/>
                  <a:gd name="csY2" fmla="*/ 340761 h 518836"/>
                  <a:gd name="csX3" fmla="*/ 178076 w 2585599"/>
                  <a:gd name="csY3" fmla="*/ 518836 h 518836"/>
                  <a:gd name="csX4" fmla="*/ 2585600 w 2585599"/>
                  <a:gd name="csY4" fmla="*/ 518836 h 518836"/>
                  <a:gd name="csX5" fmla="*/ 2585600 w 2585599"/>
                  <a:gd name="csY5" fmla="*/ 178076 h 518836"/>
                  <a:gd name="csX6" fmla="*/ 2407524 w 2585599"/>
                  <a:gd name="csY6" fmla="*/ 0 h 5188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585599" h="518836">
                    <a:moveTo>
                      <a:pt x="2407524" y="0"/>
                    </a:moveTo>
                    <a:lnTo>
                      <a:pt x="0" y="0"/>
                    </a:lnTo>
                    <a:lnTo>
                      <a:pt x="0" y="340761"/>
                    </a:lnTo>
                    <a:cubicBezTo>
                      <a:pt x="0" y="439080"/>
                      <a:pt x="79756" y="518836"/>
                      <a:pt x="178076" y="518836"/>
                    </a:cubicBezTo>
                    <a:lnTo>
                      <a:pt x="2585600" y="518836"/>
                    </a:lnTo>
                    <a:lnTo>
                      <a:pt x="2585600" y="178076"/>
                    </a:lnTo>
                    <a:cubicBezTo>
                      <a:pt x="2585600" y="79756"/>
                      <a:pt x="2505843" y="0"/>
                      <a:pt x="2407524" y="0"/>
                    </a:cubicBezTo>
                    <a:close/>
                  </a:path>
                </a:pathLst>
              </a:custGeom>
              <a:solidFill>
                <a:srgbClr val="046EB6"/>
              </a:solidFill>
              <a:ln w="9328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6EB6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31B0EABC-268B-7839-7522-4B31046492EF}"/>
                  </a:ext>
                </a:extLst>
              </p:cNvPr>
              <p:cNvSpPr txBox="1"/>
              <p:nvPr userDrawn="1"/>
            </p:nvSpPr>
            <p:spPr>
              <a:xfrm>
                <a:off x="9047344" y="6512423"/>
                <a:ext cx="334069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L" sz="1050" b="1" i="1" u="none" strike="noStrike" kern="1200" cap="none" spc="0" normalizeH="0" baseline="0" noProof="0" dirty="0">
                    <a:ln/>
                    <a:solidFill>
                      <a:srgbClr val="FFFFFF"/>
                    </a:solidFill>
                    <a:effectLst/>
                    <a:uLnTx/>
                    <a:uFillTx/>
                    <a:latin typeface="Acumin Variable Concept"/>
                    <a:ea typeface="+mn-ea"/>
                    <a:cs typeface="+mn-cs"/>
                    <a:sym typeface="Acumin Variable Concept"/>
                    <a:rtl val="0"/>
                  </a:rPr>
                  <a:t>EL SUPERMERCADO DEL TRANSPORTE</a:t>
                </a:r>
              </a:p>
            </p:txBody>
          </p:sp>
        </p:grpSp>
        <p:grpSp>
          <p:nvGrpSpPr>
            <p:cNvPr id="16" name="Gráfico 4">
              <a:extLst>
                <a:ext uri="{FF2B5EF4-FFF2-40B4-BE49-F238E27FC236}">
                  <a16:creationId xmlns:a16="http://schemas.microsoft.com/office/drawing/2014/main" id="{DB40FEF5-8226-A313-9BD6-ED47EA2422D3}"/>
                </a:ext>
              </a:extLst>
            </p:cNvPr>
            <p:cNvGrpSpPr/>
            <p:nvPr userDrawn="1"/>
          </p:nvGrpSpPr>
          <p:grpSpPr>
            <a:xfrm>
              <a:off x="3427306" y="6567844"/>
              <a:ext cx="733852" cy="145520"/>
              <a:chOff x="2672165" y="6438007"/>
              <a:chExt cx="733852" cy="145520"/>
            </a:xfrm>
          </p:grpSpPr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2DA09DD0-D38C-4AB5-C3F4-113D83D23D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72165" y="6438007"/>
                <a:ext cx="215855" cy="145520"/>
              </a:xfrm>
              <a:custGeom>
                <a:avLst/>
                <a:gdLst>
                  <a:gd name="csX0" fmla="*/ 209 w 215855"/>
                  <a:gd name="csY0" fmla="*/ 638 h 145520"/>
                  <a:gd name="csX1" fmla="*/ 216064 w 215855"/>
                  <a:gd name="csY1" fmla="*/ 638 h 145520"/>
                  <a:gd name="csX2" fmla="*/ 216064 w 215855"/>
                  <a:gd name="csY2" fmla="*/ 146158 h 145520"/>
                  <a:gd name="csX3" fmla="*/ 209 w 215855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5855" h="145520">
                    <a:moveTo>
                      <a:pt x="209" y="638"/>
                    </a:moveTo>
                    <a:lnTo>
                      <a:pt x="216064" y="638"/>
                    </a:lnTo>
                    <a:lnTo>
                      <a:pt x="216064" y="146158"/>
                    </a:lnTo>
                    <a:lnTo>
                      <a:pt x="209" y="146158"/>
                    </a:lnTo>
                    <a:close/>
                  </a:path>
                </a:pathLst>
              </a:custGeom>
            </p:spPr>
          </p:pic>
          <p:pic>
            <p:nvPicPr>
              <p:cNvPr id="18" name="Imagen 17">
                <a:extLst>
                  <a:ext uri="{FF2B5EF4-FFF2-40B4-BE49-F238E27FC236}">
                    <a16:creationId xmlns:a16="http://schemas.microsoft.com/office/drawing/2014/main" id="{88B1EC80-E949-DD93-0EC5-8F6341711D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34755" y="6438007"/>
                <a:ext cx="214642" cy="145520"/>
              </a:xfrm>
              <a:custGeom>
                <a:avLst/>
                <a:gdLst>
                  <a:gd name="csX0" fmla="*/ 238 w 214642"/>
                  <a:gd name="csY0" fmla="*/ 638 h 145520"/>
                  <a:gd name="csX1" fmla="*/ 214880 w 214642"/>
                  <a:gd name="csY1" fmla="*/ 638 h 145520"/>
                  <a:gd name="csX2" fmla="*/ 214880 w 214642"/>
                  <a:gd name="csY2" fmla="*/ 146158 h 145520"/>
                  <a:gd name="csX3" fmla="*/ 238 w 214642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4642" h="145520">
                    <a:moveTo>
                      <a:pt x="238" y="638"/>
                    </a:moveTo>
                    <a:lnTo>
                      <a:pt x="214880" y="638"/>
                    </a:lnTo>
                    <a:lnTo>
                      <a:pt x="214880" y="146158"/>
                    </a:lnTo>
                    <a:lnTo>
                      <a:pt x="238" y="146158"/>
                    </a:lnTo>
                    <a:close/>
                  </a:path>
                </a:pathLst>
              </a:custGeom>
            </p:spPr>
          </p:pic>
          <p:pic>
            <p:nvPicPr>
              <p:cNvPr id="19" name="Imagen 18">
                <a:extLst>
                  <a:ext uri="{FF2B5EF4-FFF2-40B4-BE49-F238E27FC236}">
                    <a16:creationId xmlns:a16="http://schemas.microsoft.com/office/drawing/2014/main" id="{FE659FD4-29D8-D462-A405-5E27A7E3F7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96225" y="6438007"/>
                <a:ext cx="209791" cy="145520"/>
              </a:xfrm>
              <a:custGeom>
                <a:avLst/>
                <a:gdLst>
                  <a:gd name="csX0" fmla="*/ 267 w 209791"/>
                  <a:gd name="csY0" fmla="*/ 638 h 145520"/>
                  <a:gd name="csX1" fmla="*/ 210059 w 209791"/>
                  <a:gd name="csY1" fmla="*/ 638 h 145520"/>
                  <a:gd name="csX2" fmla="*/ 210059 w 209791"/>
                  <a:gd name="csY2" fmla="*/ 146158 h 145520"/>
                  <a:gd name="csX3" fmla="*/ 267 w 209791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09791" h="145520">
                    <a:moveTo>
                      <a:pt x="267" y="638"/>
                    </a:moveTo>
                    <a:lnTo>
                      <a:pt x="210059" y="638"/>
                    </a:lnTo>
                    <a:lnTo>
                      <a:pt x="210059" y="146158"/>
                    </a:lnTo>
                    <a:lnTo>
                      <a:pt x="267" y="146158"/>
                    </a:lnTo>
                    <a:close/>
                  </a:path>
                </a:pathLst>
              </a:custGeom>
            </p:spPr>
          </p:pic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b="1" kern="0" spc="150" noProof="0" dirty="0">
                <a:solidFill>
                  <a:srgbClr val="127A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ARQUITECTURA GENERAL</a:t>
            </a:r>
            <a:endParaRPr lang="es-CL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9880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s-CL" sz="32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Qué corre en la tienda y qué en central</a:t>
            </a:r>
            <a:endParaRPr lang="es-CL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812800" y="1689100"/>
            <a:ext cx="49707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b="1" kern="0" spc="100" noProof="0" dirty="0">
                <a:solidFill>
                  <a:srgbClr val="046EB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CADA SUCURSAL</a:t>
            </a:r>
            <a:endParaRPr lang="es-CL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815975" y="2050414"/>
            <a:ext cx="4819650" cy="1131570"/>
          </a:xfrm>
          <a:prstGeom prst="roundRect">
            <a:avLst>
              <a:gd name="adj" fmla="val 7576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1022350" y="2231389"/>
            <a:ext cx="453910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s-CL" sz="16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Puesto de caja (PC Windows)</a:t>
            </a:r>
            <a:endParaRPr lang="es-CL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1022350" y="2538729"/>
            <a:ext cx="453910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Aplicación web · agente de impresión · agente Transbank y terminal de pago</a:t>
            </a:r>
            <a:endParaRPr lang="es-CL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815975" y="3315336"/>
            <a:ext cx="4819650" cy="900430"/>
          </a:xfrm>
          <a:prstGeom prst="roundRect">
            <a:avLst>
              <a:gd name="adj" fmla="val 9520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1022350" y="3496311"/>
            <a:ext cx="453910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s-CL" sz="16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Servidor de sucursal</a:t>
            </a:r>
            <a:endParaRPr lang="es-CL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1022350" y="3803650"/>
            <a:ext cx="453910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noProof="0" dirty="0" err="1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Backend</a:t>
            </a: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caja · sincronizador · base de datos local</a:t>
            </a:r>
            <a:endParaRPr lang="es-CL" sz="1300" noProof="0" dirty="0"/>
          </a:p>
        </p:txBody>
      </p:sp>
      <p:pic>
        <p:nvPicPr>
          <p:cNvPr id="11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42000" y="2764789"/>
            <a:ext cx="508000" cy="254000"/>
          </a:xfrm>
          <a:prstGeom prst="rect">
            <a:avLst/>
          </a:prstGeom>
        </p:spPr>
      </p:pic>
      <p:pic>
        <p:nvPicPr>
          <p:cNvPr id="12" name="Image 1" descr="arrow-lef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42000" y="3120389"/>
            <a:ext cx="508000" cy="254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53200" y="1689100"/>
            <a:ext cx="49707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b="1" kern="0" spc="100" noProof="0" dirty="0">
                <a:solidFill>
                  <a:srgbClr val="127A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CENTRAL</a:t>
            </a:r>
            <a:endParaRPr lang="es-CL" sz="1300" noProof="0" dirty="0"/>
          </a:p>
        </p:txBody>
      </p:sp>
      <p:sp>
        <p:nvSpPr>
          <p:cNvPr id="14" name="Shape 10"/>
          <p:cNvSpPr/>
          <p:nvPr/>
        </p:nvSpPr>
        <p:spPr>
          <a:xfrm>
            <a:off x="6556375" y="2050414"/>
            <a:ext cx="4819650" cy="1131570"/>
          </a:xfrm>
          <a:prstGeom prst="roundRect">
            <a:avLst>
              <a:gd name="adj" fmla="val 7576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 11"/>
          <p:cNvSpPr/>
          <p:nvPr/>
        </p:nvSpPr>
        <p:spPr>
          <a:xfrm>
            <a:off x="6762750" y="2231389"/>
            <a:ext cx="453910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s-CL" sz="16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Integración</a:t>
            </a:r>
            <a:endParaRPr lang="es-CL" sz="1600" noProof="0" dirty="0"/>
          </a:p>
        </p:txBody>
      </p:sp>
      <p:sp>
        <p:nvSpPr>
          <p:cNvPr id="16" name="Text 12"/>
          <p:cNvSpPr/>
          <p:nvPr/>
        </p:nvSpPr>
        <p:spPr>
          <a:xfrm>
            <a:off x="6762750" y="2538729"/>
            <a:ext cx="453910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 de integración · </a:t>
            </a:r>
            <a:r>
              <a:rPr lang="es-CL" sz="1300" noProof="0" dirty="0" err="1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broker</a:t>
            </a: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mensajería · API de lectura · administración del concentrador</a:t>
            </a:r>
            <a:endParaRPr lang="es-CL" sz="1300" noProof="0" dirty="0"/>
          </a:p>
        </p:txBody>
      </p:sp>
      <p:sp>
        <p:nvSpPr>
          <p:cNvPr id="17" name="Shape 13"/>
          <p:cNvSpPr/>
          <p:nvPr/>
        </p:nvSpPr>
        <p:spPr>
          <a:xfrm>
            <a:off x="6556375" y="3315336"/>
            <a:ext cx="4819650" cy="1131570"/>
          </a:xfrm>
          <a:prstGeom prst="roundRect">
            <a:avLst>
              <a:gd name="adj" fmla="val 7576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Text 14"/>
          <p:cNvSpPr/>
          <p:nvPr/>
        </p:nvSpPr>
        <p:spPr>
          <a:xfrm>
            <a:off x="6762750" y="3496311"/>
            <a:ext cx="453910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s-CL" sz="16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ERP y auxiliares</a:t>
            </a:r>
            <a:endParaRPr lang="es-CL" sz="1600" noProof="0" dirty="0"/>
          </a:p>
        </p:txBody>
      </p:sp>
      <p:sp>
        <p:nvSpPr>
          <p:cNvPr id="19" name="Text 15"/>
          <p:cNvSpPr/>
          <p:nvPr/>
        </p:nvSpPr>
        <p:spPr>
          <a:xfrm>
            <a:off x="6762750" y="3803650"/>
            <a:ext cx="453910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noProof="0" dirty="0" err="1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APIs</a:t>
            </a: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integración con AX · Dynamics AX · API de consulta de pagos</a:t>
            </a:r>
            <a:endParaRPr lang="es-CL" sz="1300" noProof="0" dirty="0"/>
          </a:p>
        </p:txBody>
      </p:sp>
      <p:sp>
        <p:nvSpPr>
          <p:cNvPr id="20" name="Shape 16"/>
          <p:cNvSpPr/>
          <p:nvPr/>
        </p:nvSpPr>
        <p:spPr>
          <a:xfrm>
            <a:off x="812800" y="4704079"/>
            <a:ext cx="10566400" cy="853440"/>
          </a:xfrm>
          <a:prstGeom prst="roundRect">
            <a:avLst>
              <a:gd name="adj" fmla="val 11905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21" name="Image 2" descr="Lightbulb"/>
          <p:cNvPicPr>
            <a:picLocks noChangeAspect="1"/>
          </p:cNvPicPr>
          <p:nvPr/>
        </p:nvPicPr>
        <p:blipFill>
          <a:blip r:embed="rId5"/>
          <a:srcRect l="-185" r="-185"/>
          <a:stretch/>
        </p:blipFill>
        <p:spPr>
          <a:xfrm>
            <a:off x="1041400" y="4991100"/>
            <a:ext cx="172085" cy="2794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65885" y="4881879"/>
            <a:ext cx="1007825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s-CL" sz="1400" noProof="0" dirty="0">
                <a:solidFill>
                  <a:srgbClr val="F4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Concebida para operar </a:t>
            </a:r>
            <a:r>
              <a:rPr lang="es-CL" sz="1400" b="1" noProof="0" dirty="0">
                <a:solidFill>
                  <a:srgbClr val="F4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100% offline</a:t>
            </a:r>
            <a:r>
              <a:rPr lang="es-CL" sz="1400" noProof="0" dirty="0">
                <a:solidFill>
                  <a:srgbClr val="F4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pero queda una deuda técnica: la </a:t>
            </a:r>
            <a:r>
              <a:rPr lang="es-CL" sz="1400" b="1" noProof="0" dirty="0">
                <a:solidFill>
                  <a:srgbClr val="F4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consulta de precios</a:t>
            </a:r>
            <a:r>
              <a:rPr lang="es-CL" sz="1400" noProof="0" dirty="0">
                <a:solidFill>
                  <a:srgbClr val="F4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depende de una API en línea. Sin conexión, o si esa API falla, la caja no puede continuar ni finalizar la venta.</a:t>
            </a:r>
            <a:endParaRPr lang="es-CL" sz="1400" noProof="0" dirty="0"/>
          </a:p>
        </p:txBody>
      </p:sp>
      <p:sp>
        <p:nvSpPr>
          <p:cNvPr id="30" name="Forma libre: forma 29">
            <a:extLst>
              <a:ext uri="{FF2B5EF4-FFF2-40B4-BE49-F238E27FC236}">
                <a16:creationId xmlns:a16="http://schemas.microsoft.com/office/drawing/2014/main" id="{1D21F47D-DD2D-3FB3-4F92-194067F72F04}"/>
              </a:ext>
            </a:extLst>
          </p:cNvPr>
          <p:cNvSpPr/>
          <p:nvPr/>
        </p:nvSpPr>
        <p:spPr>
          <a:xfrm flipH="1">
            <a:off x="10753493" y="6626345"/>
            <a:ext cx="1438507" cy="231655"/>
          </a:xfrm>
          <a:custGeom>
            <a:avLst/>
            <a:gdLst>
              <a:gd name="csX0" fmla="*/ 0 w 2456496"/>
              <a:gd name="csY0" fmla="*/ 93 h 518929"/>
              <a:gd name="csX1" fmla="*/ 2278421 w 2456496"/>
              <a:gd name="csY1" fmla="*/ 93 h 518929"/>
              <a:gd name="csX2" fmla="*/ 2456497 w 2456496"/>
              <a:gd name="csY2" fmla="*/ 178170 h 518929"/>
              <a:gd name="csX3" fmla="*/ 2456497 w 2456496"/>
              <a:gd name="csY3" fmla="*/ 518930 h 518929"/>
              <a:gd name="csX4" fmla="*/ 0 w 2456496"/>
              <a:gd name="csY4" fmla="*/ 518930 h 518929"/>
              <a:gd name="csX5" fmla="*/ 0 w 2456496"/>
              <a:gd name="csY5" fmla="*/ 0 h 518929"/>
              <a:gd name="csX6" fmla="*/ 0 w 2456496"/>
              <a:gd name="csY6" fmla="*/ 0 h 5189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56496" h="518929">
                <a:moveTo>
                  <a:pt x="0" y="93"/>
                </a:moveTo>
                <a:lnTo>
                  <a:pt x="2278421" y="93"/>
                </a:lnTo>
                <a:cubicBezTo>
                  <a:pt x="2376740" y="93"/>
                  <a:pt x="2456497" y="79943"/>
                  <a:pt x="2456497" y="178170"/>
                </a:cubicBezTo>
                <a:lnTo>
                  <a:pt x="2456497" y="518930"/>
                </a:lnTo>
                <a:lnTo>
                  <a:pt x="0" y="51893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9581"/>
          </a:solidFill>
          <a:ln w="9328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1" name="Imagen 30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CA05E12D-D318-16C9-752B-ADA313E4CF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131" y="6161339"/>
            <a:ext cx="1096557" cy="801914"/>
          </a:xfrm>
          <a:prstGeom prst="rect">
            <a:avLst/>
          </a:prstGeom>
        </p:spPr>
      </p:pic>
      <p:grpSp>
        <p:nvGrpSpPr>
          <p:cNvPr id="32" name="Grupo 31">
            <a:extLst>
              <a:ext uri="{FF2B5EF4-FFF2-40B4-BE49-F238E27FC236}">
                <a16:creationId xmlns:a16="http://schemas.microsoft.com/office/drawing/2014/main" id="{4E9769F9-D64D-4155-1735-2162C3F0B6ED}"/>
              </a:ext>
            </a:extLst>
          </p:cNvPr>
          <p:cNvGrpSpPr/>
          <p:nvPr/>
        </p:nvGrpSpPr>
        <p:grpSpPr>
          <a:xfrm>
            <a:off x="448370" y="6522174"/>
            <a:ext cx="3712788" cy="261610"/>
            <a:chOff x="448370" y="6513296"/>
            <a:chExt cx="3712788" cy="261610"/>
          </a:xfrm>
        </p:grpSpPr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AB7A8477-D165-89BF-5CCE-3F5AB94E8D52}"/>
                </a:ext>
              </a:extLst>
            </p:cNvPr>
            <p:cNvGrpSpPr/>
            <p:nvPr userDrawn="1"/>
          </p:nvGrpSpPr>
          <p:grpSpPr>
            <a:xfrm>
              <a:off x="448370" y="6513296"/>
              <a:ext cx="2978937" cy="261610"/>
              <a:chOff x="9047344" y="6512423"/>
              <a:chExt cx="3340699" cy="261610"/>
            </a:xfrm>
          </p:grpSpPr>
          <p:sp>
            <p:nvSpPr>
              <p:cNvPr id="38" name="Forma libre: forma 37">
                <a:extLst>
                  <a:ext uri="{FF2B5EF4-FFF2-40B4-BE49-F238E27FC236}">
                    <a16:creationId xmlns:a16="http://schemas.microsoft.com/office/drawing/2014/main" id="{5C4DF551-20D5-1C29-8118-2EE1EAC92CCE}"/>
                  </a:ext>
                </a:extLst>
              </p:cNvPr>
              <p:cNvSpPr/>
              <p:nvPr userDrawn="1"/>
            </p:nvSpPr>
            <p:spPr>
              <a:xfrm>
                <a:off x="9107601" y="6534430"/>
                <a:ext cx="2964589" cy="210603"/>
              </a:xfrm>
              <a:custGeom>
                <a:avLst/>
                <a:gdLst>
                  <a:gd name="csX0" fmla="*/ 2407524 w 2585599"/>
                  <a:gd name="csY0" fmla="*/ 0 h 518836"/>
                  <a:gd name="csX1" fmla="*/ 0 w 2585599"/>
                  <a:gd name="csY1" fmla="*/ 0 h 518836"/>
                  <a:gd name="csX2" fmla="*/ 0 w 2585599"/>
                  <a:gd name="csY2" fmla="*/ 340761 h 518836"/>
                  <a:gd name="csX3" fmla="*/ 178076 w 2585599"/>
                  <a:gd name="csY3" fmla="*/ 518836 h 518836"/>
                  <a:gd name="csX4" fmla="*/ 2585600 w 2585599"/>
                  <a:gd name="csY4" fmla="*/ 518836 h 518836"/>
                  <a:gd name="csX5" fmla="*/ 2585600 w 2585599"/>
                  <a:gd name="csY5" fmla="*/ 178076 h 518836"/>
                  <a:gd name="csX6" fmla="*/ 2407524 w 2585599"/>
                  <a:gd name="csY6" fmla="*/ 0 h 5188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585599" h="518836">
                    <a:moveTo>
                      <a:pt x="2407524" y="0"/>
                    </a:moveTo>
                    <a:lnTo>
                      <a:pt x="0" y="0"/>
                    </a:lnTo>
                    <a:lnTo>
                      <a:pt x="0" y="340761"/>
                    </a:lnTo>
                    <a:cubicBezTo>
                      <a:pt x="0" y="439080"/>
                      <a:pt x="79756" y="518836"/>
                      <a:pt x="178076" y="518836"/>
                    </a:cubicBezTo>
                    <a:lnTo>
                      <a:pt x="2585600" y="518836"/>
                    </a:lnTo>
                    <a:lnTo>
                      <a:pt x="2585600" y="178076"/>
                    </a:lnTo>
                    <a:cubicBezTo>
                      <a:pt x="2585600" y="79756"/>
                      <a:pt x="2505843" y="0"/>
                      <a:pt x="2407524" y="0"/>
                    </a:cubicBezTo>
                    <a:close/>
                  </a:path>
                </a:pathLst>
              </a:custGeom>
              <a:solidFill>
                <a:srgbClr val="046EB6"/>
              </a:solidFill>
              <a:ln w="9328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6EB6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BA310219-D454-32F1-EE6D-A39C7A06D0ED}"/>
                  </a:ext>
                </a:extLst>
              </p:cNvPr>
              <p:cNvSpPr txBox="1"/>
              <p:nvPr userDrawn="1"/>
            </p:nvSpPr>
            <p:spPr>
              <a:xfrm>
                <a:off x="9047344" y="6512423"/>
                <a:ext cx="334069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L" sz="1050" b="1" i="1" u="none" strike="noStrike" kern="1200" cap="none" spc="0" normalizeH="0" baseline="0" noProof="0" dirty="0">
                    <a:ln/>
                    <a:solidFill>
                      <a:srgbClr val="FFFFFF"/>
                    </a:solidFill>
                    <a:effectLst/>
                    <a:uLnTx/>
                    <a:uFillTx/>
                    <a:latin typeface="Acumin Variable Concept"/>
                    <a:ea typeface="+mn-ea"/>
                    <a:cs typeface="+mn-cs"/>
                    <a:sym typeface="Acumin Variable Concept"/>
                    <a:rtl val="0"/>
                  </a:rPr>
                  <a:t>EL SUPERMERCADO DEL TRANSPORTE</a:t>
                </a:r>
              </a:p>
            </p:txBody>
          </p:sp>
        </p:grpSp>
        <p:grpSp>
          <p:nvGrpSpPr>
            <p:cNvPr id="34" name="Gráfico 4">
              <a:extLst>
                <a:ext uri="{FF2B5EF4-FFF2-40B4-BE49-F238E27FC236}">
                  <a16:creationId xmlns:a16="http://schemas.microsoft.com/office/drawing/2014/main" id="{BCD95694-43F6-026E-2E9D-3684FEE49995}"/>
                </a:ext>
              </a:extLst>
            </p:cNvPr>
            <p:cNvGrpSpPr/>
            <p:nvPr userDrawn="1"/>
          </p:nvGrpSpPr>
          <p:grpSpPr>
            <a:xfrm>
              <a:off x="3427306" y="6567844"/>
              <a:ext cx="733852" cy="145520"/>
              <a:chOff x="2672165" y="6438007"/>
              <a:chExt cx="733852" cy="145520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2BAB232C-A318-FA6A-7DEF-734850176B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72165" y="6438007"/>
                <a:ext cx="215855" cy="145520"/>
              </a:xfrm>
              <a:custGeom>
                <a:avLst/>
                <a:gdLst>
                  <a:gd name="csX0" fmla="*/ 209 w 215855"/>
                  <a:gd name="csY0" fmla="*/ 638 h 145520"/>
                  <a:gd name="csX1" fmla="*/ 216064 w 215855"/>
                  <a:gd name="csY1" fmla="*/ 638 h 145520"/>
                  <a:gd name="csX2" fmla="*/ 216064 w 215855"/>
                  <a:gd name="csY2" fmla="*/ 146158 h 145520"/>
                  <a:gd name="csX3" fmla="*/ 209 w 215855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5855" h="145520">
                    <a:moveTo>
                      <a:pt x="209" y="638"/>
                    </a:moveTo>
                    <a:lnTo>
                      <a:pt x="216064" y="638"/>
                    </a:lnTo>
                    <a:lnTo>
                      <a:pt x="216064" y="146158"/>
                    </a:lnTo>
                    <a:lnTo>
                      <a:pt x="209" y="146158"/>
                    </a:lnTo>
                    <a:close/>
                  </a:path>
                </a:pathLst>
              </a:cu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BE8044E6-ED66-8FCE-EA0B-D3BE3D6FE6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34755" y="6438007"/>
                <a:ext cx="214642" cy="145520"/>
              </a:xfrm>
              <a:custGeom>
                <a:avLst/>
                <a:gdLst>
                  <a:gd name="csX0" fmla="*/ 238 w 214642"/>
                  <a:gd name="csY0" fmla="*/ 638 h 145520"/>
                  <a:gd name="csX1" fmla="*/ 214880 w 214642"/>
                  <a:gd name="csY1" fmla="*/ 638 h 145520"/>
                  <a:gd name="csX2" fmla="*/ 214880 w 214642"/>
                  <a:gd name="csY2" fmla="*/ 146158 h 145520"/>
                  <a:gd name="csX3" fmla="*/ 238 w 214642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4642" h="145520">
                    <a:moveTo>
                      <a:pt x="238" y="638"/>
                    </a:moveTo>
                    <a:lnTo>
                      <a:pt x="214880" y="638"/>
                    </a:lnTo>
                    <a:lnTo>
                      <a:pt x="214880" y="146158"/>
                    </a:lnTo>
                    <a:lnTo>
                      <a:pt x="238" y="146158"/>
                    </a:lnTo>
                    <a:close/>
                  </a:path>
                </a:pathLst>
              </a:custGeom>
            </p:spPr>
          </p:pic>
          <p:pic>
            <p:nvPicPr>
              <p:cNvPr id="37" name="Imagen 36">
                <a:extLst>
                  <a:ext uri="{FF2B5EF4-FFF2-40B4-BE49-F238E27FC236}">
                    <a16:creationId xmlns:a16="http://schemas.microsoft.com/office/drawing/2014/main" id="{8861E29E-41D3-3DDD-902D-C0C7673E2F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96225" y="6438007"/>
                <a:ext cx="209791" cy="145520"/>
              </a:xfrm>
              <a:custGeom>
                <a:avLst/>
                <a:gdLst>
                  <a:gd name="csX0" fmla="*/ 267 w 209791"/>
                  <a:gd name="csY0" fmla="*/ 638 h 145520"/>
                  <a:gd name="csX1" fmla="*/ 210059 w 209791"/>
                  <a:gd name="csY1" fmla="*/ 638 h 145520"/>
                  <a:gd name="csX2" fmla="*/ 210059 w 209791"/>
                  <a:gd name="csY2" fmla="*/ 146158 h 145520"/>
                  <a:gd name="csX3" fmla="*/ 267 w 209791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09791" h="145520">
                    <a:moveTo>
                      <a:pt x="267" y="638"/>
                    </a:moveTo>
                    <a:lnTo>
                      <a:pt x="210059" y="638"/>
                    </a:lnTo>
                    <a:lnTo>
                      <a:pt x="210059" y="146158"/>
                    </a:lnTo>
                    <a:lnTo>
                      <a:pt x="267" y="146158"/>
                    </a:lnTo>
                    <a:close/>
                  </a:path>
                </a:pathLst>
              </a:custGeom>
            </p:spPr>
          </p:pic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b="1" kern="0" spc="150" noProof="0" dirty="0">
                <a:solidFill>
                  <a:srgbClr val="127A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BASE DE DATOS</a:t>
            </a:r>
            <a:endParaRPr lang="es-CL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9880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s-CL" sz="32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Tres motores, cada uno con su rol</a:t>
            </a:r>
            <a:endParaRPr lang="es-CL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815975" y="1692275"/>
            <a:ext cx="3397250" cy="3003550"/>
          </a:xfrm>
          <a:prstGeom prst="roundRect">
            <a:avLst>
              <a:gd name="adj" fmla="val 3277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5" name="Image 0" descr="Databa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7750" y="1924050"/>
            <a:ext cx="330200" cy="330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750" y="2355850"/>
            <a:ext cx="302171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s-CL" sz="20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PostgreSQL</a:t>
            </a:r>
            <a:endParaRPr lang="es-CL" sz="2000" noProof="0" dirty="0"/>
          </a:p>
        </p:txBody>
      </p:sp>
      <p:sp>
        <p:nvSpPr>
          <p:cNvPr id="7" name="Text 4"/>
          <p:cNvSpPr/>
          <p:nvPr/>
        </p:nvSpPr>
        <p:spPr>
          <a:xfrm>
            <a:off x="1047750" y="2762250"/>
            <a:ext cx="30217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b="1" kern="0" spc="100" noProof="0" dirty="0">
                <a:solidFill>
                  <a:srgbClr val="5B67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SUCURSAL Y CENTRAL</a:t>
            </a:r>
            <a:endParaRPr lang="es-CL" sz="1200" noProof="0" dirty="0"/>
          </a:p>
        </p:txBody>
      </p:sp>
      <p:sp>
        <p:nvSpPr>
          <p:cNvPr id="8" name="Text 5"/>
          <p:cNvSpPr/>
          <p:nvPr/>
        </p:nvSpPr>
        <p:spPr>
          <a:xfrm>
            <a:off x="1047750" y="3077211"/>
            <a:ext cx="3021711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68656" algn="l">
              <a:lnSpc>
                <a:spcPts val="1820"/>
              </a:lnSpc>
              <a:buSzPct val="100000"/>
              <a:buChar char="•"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cada tienda: ventas, pagos, sesiones de caja y maestros locales</a:t>
            </a:r>
            <a:endParaRPr lang="es-CL" sz="1300" noProof="0" dirty="0"/>
          </a:p>
          <a:p>
            <a:pPr marL="198120" indent="-168656" algn="l">
              <a:lnSpc>
                <a:spcPts val="1820"/>
              </a:lnSpc>
              <a:buSzPct val="100000"/>
              <a:buChar char="•"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Guarda también la cola de mensajes del sincronizador</a:t>
            </a:r>
            <a:endParaRPr lang="es-CL" sz="1300" noProof="0" dirty="0"/>
          </a:p>
          <a:p>
            <a:pPr marL="198120" indent="-168656" algn="l">
              <a:lnSpc>
                <a:spcPts val="1820"/>
              </a:lnSpc>
              <a:buSzPct val="100000"/>
              <a:buChar char="•"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central: registro de mensajes del concentrador</a:t>
            </a:r>
            <a:endParaRPr lang="es-CL" sz="1300" noProof="0" dirty="0"/>
          </a:p>
        </p:txBody>
      </p:sp>
      <p:sp>
        <p:nvSpPr>
          <p:cNvPr id="9" name="Shape 6"/>
          <p:cNvSpPr/>
          <p:nvPr/>
        </p:nvSpPr>
        <p:spPr>
          <a:xfrm>
            <a:off x="4397375" y="1692275"/>
            <a:ext cx="3397250" cy="3003550"/>
          </a:xfrm>
          <a:prstGeom prst="roundRect">
            <a:avLst>
              <a:gd name="adj" fmla="val 3277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10" name="Image 1" descr="Databa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29150" y="1924050"/>
            <a:ext cx="330200" cy="330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29150" y="2355850"/>
            <a:ext cx="302171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s-CL" sz="20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SQL Server</a:t>
            </a:r>
            <a:endParaRPr lang="es-CL" sz="2000" noProof="0" dirty="0"/>
          </a:p>
        </p:txBody>
      </p:sp>
      <p:sp>
        <p:nvSpPr>
          <p:cNvPr id="12" name="Text 8"/>
          <p:cNvSpPr/>
          <p:nvPr/>
        </p:nvSpPr>
        <p:spPr>
          <a:xfrm>
            <a:off x="4629150" y="2762250"/>
            <a:ext cx="30217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b="1" kern="0" spc="100" noProof="0" dirty="0">
                <a:solidFill>
                  <a:srgbClr val="5B67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DYNAMICS AX</a:t>
            </a:r>
            <a:endParaRPr lang="es-CL" sz="1200" noProof="0" dirty="0"/>
          </a:p>
        </p:txBody>
      </p:sp>
      <p:sp>
        <p:nvSpPr>
          <p:cNvPr id="13" name="Text 9"/>
          <p:cNvSpPr/>
          <p:nvPr/>
        </p:nvSpPr>
        <p:spPr>
          <a:xfrm>
            <a:off x="4629150" y="3077211"/>
            <a:ext cx="3021711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68656" algn="l">
              <a:lnSpc>
                <a:spcPts val="1820"/>
              </a:lnSpc>
              <a:buSzPct val="100000"/>
              <a:buChar char="•"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 del ERP corporativo</a:t>
            </a:r>
            <a:endParaRPr lang="es-CL" sz="1300" noProof="0" dirty="0"/>
          </a:p>
          <a:p>
            <a:pPr marL="198120" indent="-168656" algn="l">
              <a:lnSpc>
                <a:spcPts val="1820"/>
              </a:lnSpc>
              <a:buSzPct val="100000"/>
              <a:buChar char="•"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Tablas de intercambio que el bus revisa para detectar cambios en los maestros</a:t>
            </a:r>
            <a:endParaRPr lang="es-CL" sz="1300" noProof="0" dirty="0"/>
          </a:p>
        </p:txBody>
      </p:sp>
      <p:sp>
        <p:nvSpPr>
          <p:cNvPr id="14" name="Shape 10"/>
          <p:cNvSpPr/>
          <p:nvPr/>
        </p:nvSpPr>
        <p:spPr>
          <a:xfrm>
            <a:off x="7978775" y="1692275"/>
            <a:ext cx="3397250" cy="3003550"/>
          </a:xfrm>
          <a:prstGeom prst="roundRect">
            <a:avLst>
              <a:gd name="adj" fmla="val 3277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15" name="Image 2" descr="Databas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10550" y="1924050"/>
            <a:ext cx="330200" cy="330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10550" y="2355850"/>
            <a:ext cx="302171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s-CL" sz="20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MongoDB</a:t>
            </a:r>
            <a:endParaRPr lang="es-CL" sz="2000" noProof="0" dirty="0"/>
          </a:p>
        </p:txBody>
      </p:sp>
      <p:sp>
        <p:nvSpPr>
          <p:cNvPr id="17" name="Text 12"/>
          <p:cNvSpPr/>
          <p:nvPr/>
        </p:nvSpPr>
        <p:spPr>
          <a:xfrm>
            <a:off x="8210550" y="2762250"/>
            <a:ext cx="30217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b="1" kern="0" spc="100" noProof="0" dirty="0">
                <a:solidFill>
                  <a:srgbClr val="5B67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SERVICIO DE PAGOS</a:t>
            </a:r>
            <a:endParaRPr lang="es-CL" sz="1200" noProof="0" dirty="0"/>
          </a:p>
        </p:txBody>
      </p:sp>
      <p:sp>
        <p:nvSpPr>
          <p:cNvPr id="18" name="Text 13"/>
          <p:cNvSpPr/>
          <p:nvPr/>
        </p:nvSpPr>
        <p:spPr>
          <a:xfrm>
            <a:off x="8210550" y="3077211"/>
            <a:ext cx="302171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68656" algn="l">
              <a:lnSpc>
                <a:spcPts val="1820"/>
              </a:lnSpc>
              <a:buSzPct val="100000"/>
              <a:buChar char="•"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Estado de las notas de crédito</a:t>
            </a:r>
            <a:endParaRPr lang="es-CL" sz="1300" noProof="0" dirty="0"/>
          </a:p>
          <a:p>
            <a:pPr marL="198120" indent="-168656" algn="l">
              <a:lnSpc>
                <a:spcPts val="1820"/>
              </a:lnSpc>
              <a:buSzPct val="100000"/>
              <a:buChar char="•"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consulta la API de pagos durante las devoluciones</a:t>
            </a:r>
            <a:endParaRPr lang="es-CL" sz="1300" noProof="0" dirty="0"/>
          </a:p>
        </p:txBody>
      </p:sp>
      <p:sp>
        <p:nvSpPr>
          <p:cNvPr id="19" name="Shape 14"/>
          <p:cNvSpPr/>
          <p:nvPr/>
        </p:nvSpPr>
        <p:spPr>
          <a:xfrm>
            <a:off x="812800" y="4953000"/>
            <a:ext cx="10566400" cy="853440"/>
          </a:xfrm>
          <a:prstGeom prst="roundRect">
            <a:avLst>
              <a:gd name="adj" fmla="val 11905"/>
            </a:avLst>
          </a:prstGeom>
          <a:solidFill>
            <a:srgbClr val="E3EDF5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20" name="Image 3" descr="Lightbulb"/>
          <p:cNvPicPr>
            <a:picLocks noChangeAspect="1"/>
          </p:cNvPicPr>
          <p:nvPr/>
        </p:nvPicPr>
        <p:blipFill>
          <a:blip r:embed="rId6"/>
          <a:srcRect t="-61" b="-61"/>
          <a:stretch/>
        </p:blipFill>
        <p:spPr>
          <a:xfrm>
            <a:off x="1041400" y="5240021"/>
            <a:ext cx="260032" cy="2794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53832" y="5130800"/>
            <a:ext cx="9987671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s-CL" sz="1400" noProof="0" dirty="0">
                <a:solidFill>
                  <a:srgbClr val="1F2A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sucursal guarda primero en su propia base y después sincroniza. </a:t>
            </a:r>
            <a:r>
              <a:rPr lang="es-CL" sz="1400" b="1" noProof="0" dirty="0">
                <a:solidFill>
                  <a:srgbClr val="1F2A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es replicación de base de datos</a:t>
            </a:r>
            <a:r>
              <a:rPr lang="es-CL" sz="1400" noProof="0" dirty="0">
                <a:solidFill>
                  <a:srgbClr val="1F2A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lo que viaja son mensajes. El Servicio de Pagos es solo un nombre, ya que es una API que agrupa varias consultas a servicios.</a:t>
            </a:r>
            <a:endParaRPr lang="es-CL" sz="1400" noProof="0" dirty="0"/>
          </a:p>
        </p:txBody>
      </p:sp>
      <p:sp>
        <p:nvSpPr>
          <p:cNvPr id="29" name="Forma libre: forma 28">
            <a:extLst>
              <a:ext uri="{FF2B5EF4-FFF2-40B4-BE49-F238E27FC236}">
                <a16:creationId xmlns:a16="http://schemas.microsoft.com/office/drawing/2014/main" id="{5E17FCAF-210B-E419-F275-5DE0042D8437}"/>
              </a:ext>
            </a:extLst>
          </p:cNvPr>
          <p:cNvSpPr/>
          <p:nvPr/>
        </p:nvSpPr>
        <p:spPr>
          <a:xfrm flipH="1">
            <a:off x="10753493" y="6626345"/>
            <a:ext cx="1438507" cy="231655"/>
          </a:xfrm>
          <a:custGeom>
            <a:avLst/>
            <a:gdLst>
              <a:gd name="csX0" fmla="*/ 0 w 2456496"/>
              <a:gd name="csY0" fmla="*/ 93 h 518929"/>
              <a:gd name="csX1" fmla="*/ 2278421 w 2456496"/>
              <a:gd name="csY1" fmla="*/ 93 h 518929"/>
              <a:gd name="csX2" fmla="*/ 2456497 w 2456496"/>
              <a:gd name="csY2" fmla="*/ 178170 h 518929"/>
              <a:gd name="csX3" fmla="*/ 2456497 w 2456496"/>
              <a:gd name="csY3" fmla="*/ 518930 h 518929"/>
              <a:gd name="csX4" fmla="*/ 0 w 2456496"/>
              <a:gd name="csY4" fmla="*/ 518930 h 518929"/>
              <a:gd name="csX5" fmla="*/ 0 w 2456496"/>
              <a:gd name="csY5" fmla="*/ 0 h 518929"/>
              <a:gd name="csX6" fmla="*/ 0 w 2456496"/>
              <a:gd name="csY6" fmla="*/ 0 h 5189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56496" h="518929">
                <a:moveTo>
                  <a:pt x="0" y="93"/>
                </a:moveTo>
                <a:lnTo>
                  <a:pt x="2278421" y="93"/>
                </a:lnTo>
                <a:cubicBezTo>
                  <a:pt x="2376740" y="93"/>
                  <a:pt x="2456497" y="79943"/>
                  <a:pt x="2456497" y="178170"/>
                </a:cubicBezTo>
                <a:lnTo>
                  <a:pt x="2456497" y="518930"/>
                </a:lnTo>
                <a:lnTo>
                  <a:pt x="0" y="51893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9581"/>
          </a:solidFill>
          <a:ln w="9328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0" name="Imagen 29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06564AC1-032E-1EBC-40DB-01F27D3F69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131" y="6161339"/>
            <a:ext cx="1096557" cy="801914"/>
          </a:xfrm>
          <a:prstGeom prst="rect">
            <a:avLst/>
          </a:prstGeom>
        </p:spPr>
      </p:pic>
      <p:grpSp>
        <p:nvGrpSpPr>
          <p:cNvPr id="31" name="Grupo 30">
            <a:extLst>
              <a:ext uri="{FF2B5EF4-FFF2-40B4-BE49-F238E27FC236}">
                <a16:creationId xmlns:a16="http://schemas.microsoft.com/office/drawing/2014/main" id="{99BB85AF-E0EF-91D6-3B45-B1104C77BB05}"/>
              </a:ext>
            </a:extLst>
          </p:cNvPr>
          <p:cNvGrpSpPr/>
          <p:nvPr/>
        </p:nvGrpSpPr>
        <p:grpSpPr>
          <a:xfrm>
            <a:off x="448370" y="6522174"/>
            <a:ext cx="3712788" cy="261610"/>
            <a:chOff x="448370" y="6513296"/>
            <a:chExt cx="3712788" cy="261610"/>
          </a:xfrm>
        </p:grpSpPr>
        <p:grpSp>
          <p:nvGrpSpPr>
            <p:cNvPr id="32" name="Grupo 31">
              <a:extLst>
                <a:ext uri="{FF2B5EF4-FFF2-40B4-BE49-F238E27FC236}">
                  <a16:creationId xmlns:a16="http://schemas.microsoft.com/office/drawing/2014/main" id="{92BC2621-359F-F2C5-670A-45AD1E98CAE4}"/>
                </a:ext>
              </a:extLst>
            </p:cNvPr>
            <p:cNvGrpSpPr/>
            <p:nvPr userDrawn="1"/>
          </p:nvGrpSpPr>
          <p:grpSpPr>
            <a:xfrm>
              <a:off x="448370" y="6513296"/>
              <a:ext cx="2978937" cy="261610"/>
              <a:chOff x="9047344" y="6512423"/>
              <a:chExt cx="3340699" cy="261610"/>
            </a:xfrm>
          </p:grpSpPr>
          <p:sp>
            <p:nvSpPr>
              <p:cNvPr id="37" name="Forma libre: forma 36">
                <a:extLst>
                  <a:ext uri="{FF2B5EF4-FFF2-40B4-BE49-F238E27FC236}">
                    <a16:creationId xmlns:a16="http://schemas.microsoft.com/office/drawing/2014/main" id="{05060B37-5B53-C1A9-BB1E-AAFBA06928F1}"/>
                  </a:ext>
                </a:extLst>
              </p:cNvPr>
              <p:cNvSpPr/>
              <p:nvPr userDrawn="1"/>
            </p:nvSpPr>
            <p:spPr>
              <a:xfrm>
                <a:off x="9107601" y="6534430"/>
                <a:ext cx="2964589" cy="210603"/>
              </a:xfrm>
              <a:custGeom>
                <a:avLst/>
                <a:gdLst>
                  <a:gd name="csX0" fmla="*/ 2407524 w 2585599"/>
                  <a:gd name="csY0" fmla="*/ 0 h 518836"/>
                  <a:gd name="csX1" fmla="*/ 0 w 2585599"/>
                  <a:gd name="csY1" fmla="*/ 0 h 518836"/>
                  <a:gd name="csX2" fmla="*/ 0 w 2585599"/>
                  <a:gd name="csY2" fmla="*/ 340761 h 518836"/>
                  <a:gd name="csX3" fmla="*/ 178076 w 2585599"/>
                  <a:gd name="csY3" fmla="*/ 518836 h 518836"/>
                  <a:gd name="csX4" fmla="*/ 2585600 w 2585599"/>
                  <a:gd name="csY4" fmla="*/ 518836 h 518836"/>
                  <a:gd name="csX5" fmla="*/ 2585600 w 2585599"/>
                  <a:gd name="csY5" fmla="*/ 178076 h 518836"/>
                  <a:gd name="csX6" fmla="*/ 2407524 w 2585599"/>
                  <a:gd name="csY6" fmla="*/ 0 h 5188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585599" h="518836">
                    <a:moveTo>
                      <a:pt x="2407524" y="0"/>
                    </a:moveTo>
                    <a:lnTo>
                      <a:pt x="0" y="0"/>
                    </a:lnTo>
                    <a:lnTo>
                      <a:pt x="0" y="340761"/>
                    </a:lnTo>
                    <a:cubicBezTo>
                      <a:pt x="0" y="439080"/>
                      <a:pt x="79756" y="518836"/>
                      <a:pt x="178076" y="518836"/>
                    </a:cubicBezTo>
                    <a:lnTo>
                      <a:pt x="2585600" y="518836"/>
                    </a:lnTo>
                    <a:lnTo>
                      <a:pt x="2585600" y="178076"/>
                    </a:lnTo>
                    <a:cubicBezTo>
                      <a:pt x="2585600" y="79756"/>
                      <a:pt x="2505843" y="0"/>
                      <a:pt x="2407524" y="0"/>
                    </a:cubicBezTo>
                    <a:close/>
                  </a:path>
                </a:pathLst>
              </a:custGeom>
              <a:solidFill>
                <a:srgbClr val="046EB6"/>
              </a:solidFill>
              <a:ln w="9328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6EB6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5859147A-552B-D0E7-1EF6-A1BA6E7647DD}"/>
                  </a:ext>
                </a:extLst>
              </p:cNvPr>
              <p:cNvSpPr txBox="1"/>
              <p:nvPr userDrawn="1"/>
            </p:nvSpPr>
            <p:spPr>
              <a:xfrm>
                <a:off x="9047344" y="6512423"/>
                <a:ext cx="334069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L" sz="1050" b="1" i="1" u="none" strike="noStrike" kern="1200" cap="none" spc="0" normalizeH="0" baseline="0" noProof="0" dirty="0">
                    <a:ln/>
                    <a:solidFill>
                      <a:srgbClr val="FFFFFF"/>
                    </a:solidFill>
                    <a:effectLst/>
                    <a:uLnTx/>
                    <a:uFillTx/>
                    <a:latin typeface="Acumin Variable Concept"/>
                    <a:ea typeface="+mn-ea"/>
                    <a:cs typeface="+mn-cs"/>
                    <a:sym typeface="Acumin Variable Concept"/>
                    <a:rtl val="0"/>
                  </a:rPr>
                  <a:t>EL SUPERMERCADO DEL TRANSPORTE</a:t>
                </a:r>
              </a:p>
            </p:txBody>
          </p:sp>
        </p:grpSp>
        <p:grpSp>
          <p:nvGrpSpPr>
            <p:cNvPr id="33" name="Gráfico 4">
              <a:extLst>
                <a:ext uri="{FF2B5EF4-FFF2-40B4-BE49-F238E27FC236}">
                  <a16:creationId xmlns:a16="http://schemas.microsoft.com/office/drawing/2014/main" id="{E1331D03-F7EB-764D-3DCA-A6A681C3D125}"/>
                </a:ext>
              </a:extLst>
            </p:cNvPr>
            <p:cNvGrpSpPr/>
            <p:nvPr userDrawn="1"/>
          </p:nvGrpSpPr>
          <p:grpSpPr>
            <a:xfrm>
              <a:off x="3427306" y="6567844"/>
              <a:ext cx="733852" cy="145520"/>
              <a:chOff x="2672165" y="6438007"/>
              <a:chExt cx="733852" cy="145520"/>
            </a:xfrm>
          </p:grpSpPr>
          <p:pic>
            <p:nvPicPr>
              <p:cNvPr id="34" name="Imagen 33">
                <a:extLst>
                  <a:ext uri="{FF2B5EF4-FFF2-40B4-BE49-F238E27FC236}">
                    <a16:creationId xmlns:a16="http://schemas.microsoft.com/office/drawing/2014/main" id="{F27E2AC1-C68C-24C6-6C19-BA9DCE9B8E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72165" y="6438007"/>
                <a:ext cx="215855" cy="145520"/>
              </a:xfrm>
              <a:custGeom>
                <a:avLst/>
                <a:gdLst>
                  <a:gd name="csX0" fmla="*/ 209 w 215855"/>
                  <a:gd name="csY0" fmla="*/ 638 h 145520"/>
                  <a:gd name="csX1" fmla="*/ 216064 w 215855"/>
                  <a:gd name="csY1" fmla="*/ 638 h 145520"/>
                  <a:gd name="csX2" fmla="*/ 216064 w 215855"/>
                  <a:gd name="csY2" fmla="*/ 146158 h 145520"/>
                  <a:gd name="csX3" fmla="*/ 209 w 215855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5855" h="145520">
                    <a:moveTo>
                      <a:pt x="209" y="638"/>
                    </a:moveTo>
                    <a:lnTo>
                      <a:pt x="216064" y="638"/>
                    </a:lnTo>
                    <a:lnTo>
                      <a:pt x="216064" y="146158"/>
                    </a:lnTo>
                    <a:lnTo>
                      <a:pt x="209" y="146158"/>
                    </a:lnTo>
                    <a:close/>
                  </a:path>
                </a:pathLst>
              </a:custGeom>
            </p:spPr>
          </p:pic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593FAE5C-FC06-A0F5-850F-357D40A843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34755" y="6438007"/>
                <a:ext cx="214642" cy="145520"/>
              </a:xfrm>
              <a:custGeom>
                <a:avLst/>
                <a:gdLst>
                  <a:gd name="csX0" fmla="*/ 238 w 214642"/>
                  <a:gd name="csY0" fmla="*/ 638 h 145520"/>
                  <a:gd name="csX1" fmla="*/ 214880 w 214642"/>
                  <a:gd name="csY1" fmla="*/ 638 h 145520"/>
                  <a:gd name="csX2" fmla="*/ 214880 w 214642"/>
                  <a:gd name="csY2" fmla="*/ 146158 h 145520"/>
                  <a:gd name="csX3" fmla="*/ 238 w 214642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4642" h="145520">
                    <a:moveTo>
                      <a:pt x="238" y="638"/>
                    </a:moveTo>
                    <a:lnTo>
                      <a:pt x="214880" y="638"/>
                    </a:lnTo>
                    <a:lnTo>
                      <a:pt x="214880" y="146158"/>
                    </a:lnTo>
                    <a:lnTo>
                      <a:pt x="238" y="146158"/>
                    </a:lnTo>
                    <a:close/>
                  </a:path>
                </a:pathLst>
              </a:cu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94ACB259-EFC9-0E02-EAAB-C302EC32C3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96225" y="6438007"/>
                <a:ext cx="209791" cy="145520"/>
              </a:xfrm>
              <a:custGeom>
                <a:avLst/>
                <a:gdLst>
                  <a:gd name="csX0" fmla="*/ 267 w 209791"/>
                  <a:gd name="csY0" fmla="*/ 638 h 145520"/>
                  <a:gd name="csX1" fmla="*/ 210059 w 209791"/>
                  <a:gd name="csY1" fmla="*/ 638 h 145520"/>
                  <a:gd name="csX2" fmla="*/ 210059 w 209791"/>
                  <a:gd name="csY2" fmla="*/ 146158 h 145520"/>
                  <a:gd name="csX3" fmla="*/ 267 w 209791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09791" h="145520">
                    <a:moveTo>
                      <a:pt x="267" y="638"/>
                    </a:moveTo>
                    <a:lnTo>
                      <a:pt x="210059" y="638"/>
                    </a:lnTo>
                    <a:lnTo>
                      <a:pt x="210059" y="146158"/>
                    </a:lnTo>
                    <a:lnTo>
                      <a:pt x="267" y="146158"/>
                    </a:lnTo>
                    <a:close/>
                  </a:path>
                </a:pathLst>
              </a:custGeom>
            </p:spPr>
          </p:pic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b="1" kern="0" spc="150" noProof="0" dirty="0">
                <a:solidFill>
                  <a:srgbClr val="127A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LENGUAJE DE PROGRAMACIÓN</a:t>
            </a:r>
            <a:endParaRPr lang="es-CL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9880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s-CL" sz="32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Cuatro lenguajes para seis aplicaciones</a:t>
            </a:r>
            <a:endParaRPr lang="es-CL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812800" y="1689100"/>
            <a:ext cx="10566400" cy="2721610"/>
          </a:xfrm>
          <a:prstGeom prst="roundRect">
            <a:avLst>
              <a:gd name="adj" fmla="val 2800"/>
            </a:avLst>
          </a:prstGeom>
          <a:solidFill>
            <a:srgbClr val="FCFDF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812800" y="1689100"/>
            <a:ext cx="10566400" cy="2721610"/>
          </a:xfrm>
          <a:custGeom>
            <a:avLst/>
            <a:gdLst/>
            <a:ahLst/>
            <a:cxnLst/>
            <a:rect l="l" t="t" r="r" b="b"/>
            <a:pathLst>
              <a:path w="10566400" h="2721610">
                <a:moveTo>
                  <a:pt x="10490200" y="0"/>
                </a:moveTo>
                <a:lnTo>
                  <a:pt x="10490200" y="0"/>
                </a:lnTo>
                <a:arcTo wR="76200" hR="76200" stAng="16200000" swAng="5400000"/>
                <a:lnTo>
                  <a:pt x="10566400" y="2645410"/>
                </a:lnTo>
                <a:arcTo wR="76200" hR="76200" stAng="0" swAng="5400000"/>
                <a:lnTo>
                  <a:pt x="76200" y="2721610"/>
                </a:lnTo>
                <a:arcTo wR="76200" hR="76200" stAng="5400000" swAng="5400000"/>
                <a:lnTo>
                  <a:pt x="0" y="2645410"/>
                </a:lnTo>
                <a:arcTo wR="76200" hR="69850" stAng="10800000" swAng="-5400000"/>
                <a:lnTo>
                  <a:pt x="10490200" y="2715260"/>
                </a:lnTo>
                <a:arcTo wR="69850" hR="69850" stAng="5400000" swAng="-5400000"/>
                <a:lnTo>
                  <a:pt x="10560050" y="76200"/>
                </a:lnTo>
                <a:arcTo wR="69850" hR="76200" stAng="0" swAng="-5400000"/>
                <a:close/>
              </a:path>
            </a:pathLst>
          </a:custGeom>
          <a:solidFill>
            <a:srgbClr val="DCE3E9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812800" y="1689100"/>
            <a:ext cx="10566400" cy="2721610"/>
          </a:xfrm>
          <a:custGeom>
            <a:avLst/>
            <a:gdLst/>
            <a:ahLst/>
            <a:cxnLst/>
            <a:rect l="l" t="t" r="r" b="b"/>
            <a:pathLst>
              <a:path w="10566400" h="2721610">
                <a:moveTo>
                  <a:pt x="76200" y="2721610"/>
                </a:moveTo>
                <a:lnTo>
                  <a:pt x="76200" y="272161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10490200" y="0"/>
                </a:lnTo>
                <a:arcTo wR="76200" hR="76200" stAng="16200000" swAng="5400000"/>
                <a:lnTo>
                  <a:pt x="10566400" y="76200"/>
                </a:lnTo>
                <a:arcTo wR="76200" hR="63500" stAng="0" swAng="-5400000"/>
                <a:lnTo>
                  <a:pt x="76200" y="12700"/>
                </a:lnTo>
                <a:arcTo wR="63500" hR="63500" stAng="16200000" swAng="-5400000"/>
                <a:lnTo>
                  <a:pt x="12700" y="2645410"/>
                </a:lnTo>
                <a:arcTo wR="63500" hR="762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  <p:txBody>
          <a:bodyPr/>
          <a:lstStyle/>
          <a:p>
            <a:endParaRPr lang="es-CL" noProof="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421543"/>
              </p:ext>
            </p:extLst>
          </p:nvPr>
        </p:nvGraphicFramePr>
        <p:xfrm>
          <a:off x="825500" y="1701800"/>
          <a:ext cx="10547350" cy="2702560"/>
        </p:xfrm>
        <a:graphic>
          <a:graphicData uri="http://schemas.openxmlformats.org/drawingml/2006/table">
            <a:tbl>
              <a:tblPr/>
              <a:tblGrid>
                <a:gridCol w="4218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5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3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0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s-CL" sz="1400" b="1" noProof="0" dirty="0">
                          <a:solidFill>
                            <a:srgbClr val="F4F6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Componente</a:t>
                      </a:r>
                      <a:endParaRPr lang="es-CL" sz="14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s-CL" sz="1400" b="1" noProof="0" dirty="0">
                          <a:solidFill>
                            <a:srgbClr val="F4F6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Tecnología</a:t>
                      </a:r>
                      <a:endParaRPr lang="es-CL" sz="14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s-CL" sz="1400" b="1" noProof="0" dirty="0">
                          <a:solidFill>
                            <a:srgbClr val="F4F6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Lenguaje</a:t>
                      </a:r>
                      <a:endParaRPr lang="es-CL" sz="14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s-CL" sz="14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Aplicación web de caja</a:t>
                      </a:r>
                      <a:endParaRPr lang="es-CL" sz="14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s-CL" sz="14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Angular</a:t>
                      </a:r>
                      <a:endParaRPr lang="es-CL" sz="14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s-CL" sz="14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TypeScript</a:t>
                      </a:r>
                      <a:endParaRPr lang="es-CL" sz="14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s-CL" sz="14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Backend</a:t>
                      </a:r>
                      <a:r>
                        <a:rPr lang="es-CL" sz="14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, sincronizador y API de lectura</a:t>
                      </a:r>
                      <a:endParaRPr lang="es-CL" sz="14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s-CL" sz="14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Node.js · </a:t>
                      </a:r>
                      <a:r>
                        <a:rPr lang="es-CL" sz="14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AdonisJS</a:t>
                      </a:r>
                      <a:endParaRPr lang="es-CL" sz="14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s-CL" sz="14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JavaScript</a:t>
                      </a:r>
                      <a:endParaRPr lang="es-CL" sz="14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s-CL" sz="14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API de consulta de pagos</a:t>
                      </a:r>
                      <a:endParaRPr lang="es-CL" sz="14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s-CL" sz="14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Node.js · Express</a:t>
                      </a:r>
                      <a:endParaRPr lang="es-CL" sz="14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s-CL" sz="14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JavaScript</a:t>
                      </a:r>
                      <a:endParaRPr lang="es-CL" sz="14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s-CL" sz="14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Bus de integración</a:t>
                      </a:r>
                      <a:endParaRPr lang="es-CL" sz="14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s-CL" sz="14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WSO2 EI 6.6.0</a:t>
                      </a:r>
                      <a:endParaRPr lang="es-CL" sz="14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s-CL" sz="14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Java + configuración XML</a:t>
                      </a:r>
                      <a:endParaRPr lang="es-CL" sz="14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s-CL" sz="14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APIs</a:t>
                      </a:r>
                      <a:r>
                        <a:rPr lang="es-CL" sz="14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de integración con AX</a:t>
                      </a:r>
                      <a:endParaRPr lang="es-CL" sz="14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s-CL" sz="14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ASP.NET Web API</a:t>
                      </a:r>
                      <a:endParaRPr lang="es-CL" sz="14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s-CL" sz="14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C#</a:t>
                      </a:r>
                      <a:endParaRPr lang="es-CL" sz="14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s-CL" sz="14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Agente de impresión</a:t>
                      </a:r>
                      <a:endParaRPr lang="es-CL" sz="14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s-CL" sz="14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Servicio Windows .NET</a:t>
                      </a:r>
                      <a:endParaRPr lang="es-CL" sz="14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s-CL" sz="14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C#</a:t>
                      </a:r>
                      <a:endParaRPr lang="es-CL" sz="14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2800" y="4664708"/>
            <a:ext cx="10566400" cy="558800"/>
          </a:xfrm>
          <a:prstGeom prst="roundRect">
            <a:avLst>
              <a:gd name="adj" fmla="val 18182"/>
            </a:avLst>
          </a:prstGeom>
          <a:solidFill>
            <a:srgbClr val="FCEFE3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9" name="Image 0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1400" y="4817108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47800" y="4828542"/>
            <a:ext cx="853033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noProof="0" dirty="0">
                <a:solidFill>
                  <a:srgbClr val="1F2A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Angular y .NET Framework están en versiones que ya no reciben soporte del fabricante (ver puntos de atención).</a:t>
            </a:r>
            <a:endParaRPr lang="es-CL" sz="1300" noProof="0" dirty="0"/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2C800CCD-B342-B04C-1F59-5A241549720E}"/>
              </a:ext>
            </a:extLst>
          </p:cNvPr>
          <p:cNvSpPr/>
          <p:nvPr/>
        </p:nvSpPr>
        <p:spPr>
          <a:xfrm flipH="1">
            <a:off x="10753493" y="6626345"/>
            <a:ext cx="1438507" cy="231655"/>
          </a:xfrm>
          <a:custGeom>
            <a:avLst/>
            <a:gdLst>
              <a:gd name="csX0" fmla="*/ 0 w 2456496"/>
              <a:gd name="csY0" fmla="*/ 93 h 518929"/>
              <a:gd name="csX1" fmla="*/ 2278421 w 2456496"/>
              <a:gd name="csY1" fmla="*/ 93 h 518929"/>
              <a:gd name="csX2" fmla="*/ 2456497 w 2456496"/>
              <a:gd name="csY2" fmla="*/ 178170 h 518929"/>
              <a:gd name="csX3" fmla="*/ 2456497 w 2456496"/>
              <a:gd name="csY3" fmla="*/ 518930 h 518929"/>
              <a:gd name="csX4" fmla="*/ 0 w 2456496"/>
              <a:gd name="csY4" fmla="*/ 518930 h 518929"/>
              <a:gd name="csX5" fmla="*/ 0 w 2456496"/>
              <a:gd name="csY5" fmla="*/ 0 h 518929"/>
              <a:gd name="csX6" fmla="*/ 0 w 2456496"/>
              <a:gd name="csY6" fmla="*/ 0 h 5189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56496" h="518929">
                <a:moveTo>
                  <a:pt x="0" y="93"/>
                </a:moveTo>
                <a:lnTo>
                  <a:pt x="2278421" y="93"/>
                </a:lnTo>
                <a:cubicBezTo>
                  <a:pt x="2376740" y="93"/>
                  <a:pt x="2456497" y="79943"/>
                  <a:pt x="2456497" y="178170"/>
                </a:cubicBezTo>
                <a:lnTo>
                  <a:pt x="2456497" y="518930"/>
                </a:lnTo>
                <a:lnTo>
                  <a:pt x="0" y="51893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9581"/>
          </a:solidFill>
          <a:ln w="9328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" name="Imagen 18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BBFB29E1-EC7B-1CB5-960C-9A2EFEEB6A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131" y="6161339"/>
            <a:ext cx="1096557" cy="801914"/>
          </a:xfrm>
          <a:prstGeom prst="rect">
            <a:avLst/>
          </a:prstGeom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B3776C3A-4367-CB38-D164-A93C42111A66}"/>
              </a:ext>
            </a:extLst>
          </p:cNvPr>
          <p:cNvGrpSpPr/>
          <p:nvPr/>
        </p:nvGrpSpPr>
        <p:grpSpPr>
          <a:xfrm>
            <a:off x="448370" y="6522174"/>
            <a:ext cx="3712788" cy="261610"/>
            <a:chOff x="448370" y="6513296"/>
            <a:chExt cx="3712788" cy="261610"/>
          </a:xfrm>
        </p:grpSpPr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B2C15159-E4E0-9A10-5D6F-105F76C63F91}"/>
                </a:ext>
              </a:extLst>
            </p:cNvPr>
            <p:cNvGrpSpPr/>
            <p:nvPr userDrawn="1"/>
          </p:nvGrpSpPr>
          <p:grpSpPr>
            <a:xfrm>
              <a:off x="448370" y="6513296"/>
              <a:ext cx="2978937" cy="261610"/>
              <a:chOff x="9047344" y="6512423"/>
              <a:chExt cx="3340699" cy="261610"/>
            </a:xfrm>
          </p:grpSpPr>
          <p:sp>
            <p:nvSpPr>
              <p:cNvPr id="26" name="Forma libre: forma 25">
                <a:extLst>
                  <a:ext uri="{FF2B5EF4-FFF2-40B4-BE49-F238E27FC236}">
                    <a16:creationId xmlns:a16="http://schemas.microsoft.com/office/drawing/2014/main" id="{97F3B8C7-B875-7FC8-04E1-0B9CCC0DF2AF}"/>
                  </a:ext>
                </a:extLst>
              </p:cNvPr>
              <p:cNvSpPr/>
              <p:nvPr userDrawn="1"/>
            </p:nvSpPr>
            <p:spPr>
              <a:xfrm>
                <a:off x="9107601" y="6534430"/>
                <a:ext cx="2964589" cy="210603"/>
              </a:xfrm>
              <a:custGeom>
                <a:avLst/>
                <a:gdLst>
                  <a:gd name="csX0" fmla="*/ 2407524 w 2585599"/>
                  <a:gd name="csY0" fmla="*/ 0 h 518836"/>
                  <a:gd name="csX1" fmla="*/ 0 w 2585599"/>
                  <a:gd name="csY1" fmla="*/ 0 h 518836"/>
                  <a:gd name="csX2" fmla="*/ 0 w 2585599"/>
                  <a:gd name="csY2" fmla="*/ 340761 h 518836"/>
                  <a:gd name="csX3" fmla="*/ 178076 w 2585599"/>
                  <a:gd name="csY3" fmla="*/ 518836 h 518836"/>
                  <a:gd name="csX4" fmla="*/ 2585600 w 2585599"/>
                  <a:gd name="csY4" fmla="*/ 518836 h 518836"/>
                  <a:gd name="csX5" fmla="*/ 2585600 w 2585599"/>
                  <a:gd name="csY5" fmla="*/ 178076 h 518836"/>
                  <a:gd name="csX6" fmla="*/ 2407524 w 2585599"/>
                  <a:gd name="csY6" fmla="*/ 0 h 5188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585599" h="518836">
                    <a:moveTo>
                      <a:pt x="2407524" y="0"/>
                    </a:moveTo>
                    <a:lnTo>
                      <a:pt x="0" y="0"/>
                    </a:lnTo>
                    <a:lnTo>
                      <a:pt x="0" y="340761"/>
                    </a:lnTo>
                    <a:cubicBezTo>
                      <a:pt x="0" y="439080"/>
                      <a:pt x="79756" y="518836"/>
                      <a:pt x="178076" y="518836"/>
                    </a:cubicBezTo>
                    <a:lnTo>
                      <a:pt x="2585600" y="518836"/>
                    </a:lnTo>
                    <a:lnTo>
                      <a:pt x="2585600" y="178076"/>
                    </a:lnTo>
                    <a:cubicBezTo>
                      <a:pt x="2585600" y="79756"/>
                      <a:pt x="2505843" y="0"/>
                      <a:pt x="2407524" y="0"/>
                    </a:cubicBezTo>
                    <a:close/>
                  </a:path>
                </a:pathLst>
              </a:custGeom>
              <a:solidFill>
                <a:srgbClr val="046EB6"/>
              </a:solidFill>
              <a:ln w="9328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6EB6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B6178C95-94EE-7B05-CEF2-7EDE67797B9B}"/>
                  </a:ext>
                </a:extLst>
              </p:cNvPr>
              <p:cNvSpPr txBox="1"/>
              <p:nvPr userDrawn="1"/>
            </p:nvSpPr>
            <p:spPr>
              <a:xfrm>
                <a:off x="9047344" y="6512423"/>
                <a:ext cx="334069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L" sz="1050" b="1" i="1" u="none" strike="noStrike" kern="1200" cap="none" spc="0" normalizeH="0" baseline="0" noProof="0" dirty="0">
                    <a:ln/>
                    <a:solidFill>
                      <a:srgbClr val="FFFFFF"/>
                    </a:solidFill>
                    <a:effectLst/>
                    <a:uLnTx/>
                    <a:uFillTx/>
                    <a:latin typeface="Acumin Variable Concept"/>
                    <a:ea typeface="+mn-ea"/>
                    <a:cs typeface="+mn-cs"/>
                    <a:sym typeface="Acumin Variable Concept"/>
                    <a:rtl val="0"/>
                  </a:rPr>
                  <a:t>EL SUPERMERCADO DEL TRANSPORTE</a:t>
                </a:r>
              </a:p>
            </p:txBody>
          </p:sp>
        </p:grpSp>
        <p:grpSp>
          <p:nvGrpSpPr>
            <p:cNvPr id="22" name="Gráfico 4">
              <a:extLst>
                <a:ext uri="{FF2B5EF4-FFF2-40B4-BE49-F238E27FC236}">
                  <a16:creationId xmlns:a16="http://schemas.microsoft.com/office/drawing/2014/main" id="{39422D6F-203E-4BB0-8D53-593BAF4352E5}"/>
                </a:ext>
              </a:extLst>
            </p:cNvPr>
            <p:cNvGrpSpPr/>
            <p:nvPr userDrawn="1"/>
          </p:nvGrpSpPr>
          <p:grpSpPr>
            <a:xfrm>
              <a:off x="3427306" y="6567844"/>
              <a:ext cx="733852" cy="145520"/>
              <a:chOff x="2672165" y="6438007"/>
              <a:chExt cx="733852" cy="145520"/>
            </a:xfrm>
          </p:grpSpPr>
          <p:pic>
            <p:nvPicPr>
              <p:cNvPr id="23" name="Imagen 22">
                <a:extLst>
                  <a:ext uri="{FF2B5EF4-FFF2-40B4-BE49-F238E27FC236}">
                    <a16:creationId xmlns:a16="http://schemas.microsoft.com/office/drawing/2014/main" id="{C58A56E5-4B2D-10D1-98DC-32C22E2BEE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72165" y="6438007"/>
                <a:ext cx="215855" cy="145520"/>
              </a:xfrm>
              <a:custGeom>
                <a:avLst/>
                <a:gdLst>
                  <a:gd name="csX0" fmla="*/ 209 w 215855"/>
                  <a:gd name="csY0" fmla="*/ 638 h 145520"/>
                  <a:gd name="csX1" fmla="*/ 216064 w 215855"/>
                  <a:gd name="csY1" fmla="*/ 638 h 145520"/>
                  <a:gd name="csX2" fmla="*/ 216064 w 215855"/>
                  <a:gd name="csY2" fmla="*/ 146158 h 145520"/>
                  <a:gd name="csX3" fmla="*/ 209 w 215855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5855" h="145520">
                    <a:moveTo>
                      <a:pt x="209" y="638"/>
                    </a:moveTo>
                    <a:lnTo>
                      <a:pt x="216064" y="638"/>
                    </a:lnTo>
                    <a:lnTo>
                      <a:pt x="216064" y="146158"/>
                    </a:lnTo>
                    <a:lnTo>
                      <a:pt x="209" y="146158"/>
                    </a:lnTo>
                    <a:close/>
                  </a:path>
                </a:pathLst>
              </a:custGeom>
            </p:spPr>
          </p:pic>
          <p:pic>
            <p:nvPicPr>
              <p:cNvPr id="24" name="Imagen 23">
                <a:extLst>
                  <a:ext uri="{FF2B5EF4-FFF2-40B4-BE49-F238E27FC236}">
                    <a16:creationId xmlns:a16="http://schemas.microsoft.com/office/drawing/2014/main" id="{EF51F22F-BE3A-3AF0-E478-5EA7AA379D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34755" y="6438007"/>
                <a:ext cx="214642" cy="145520"/>
              </a:xfrm>
              <a:custGeom>
                <a:avLst/>
                <a:gdLst>
                  <a:gd name="csX0" fmla="*/ 238 w 214642"/>
                  <a:gd name="csY0" fmla="*/ 638 h 145520"/>
                  <a:gd name="csX1" fmla="*/ 214880 w 214642"/>
                  <a:gd name="csY1" fmla="*/ 638 h 145520"/>
                  <a:gd name="csX2" fmla="*/ 214880 w 214642"/>
                  <a:gd name="csY2" fmla="*/ 146158 h 145520"/>
                  <a:gd name="csX3" fmla="*/ 238 w 214642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4642" h="145520">
                    <a:moveTo>
                      <a:pt x="238" y="638"/>
                    </a:moveTo>
                    <a:lnTo>
                      <a:pt x="214880" y="638"/>
                    </a:lnTo>
                    <a:lnTo>
                      <a:pt x="214880" y="146158"/>
                    </a:lnTo>
                    <a:lnTo>
                      <a:pt x="238" y="146158"/>
                    </a:lnTo>
                    <a:close/>
                  </a:path>
                </a:pathLst>
              </a:custGeom>
            </p:spPr>
          </p:pic>
          <p:pic>
            <p:nvPicPr>
              <p:cNvPr id="25" name="Imagen 24">
                <a:extLst>
                  <a:ext uri="{FF2B5EF4-FFF2-40B4-BE49-F238E27FC236}">
                    <a16:creationId xmlns:a16="http://schemas.microsoft.com/office/drawing/2014/main" id="{018D9772-633A-4FAB-FAB6-F6C526D202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96225" y="6438007"/>
                <a:ext cx="209791" cy="145520"/>
              </a:xfrm>
              <a:custGeom>
                <a:avLst/>
                <a:gdLst>
                  <a:gd name="csX0" fmla="*/ 267 w 209791"/>
                  <a:gd name="csY0" fmla="*/ 638 h 145520"/>
                  <a:gd name="csX1" fmla="*/ 210059 w 209791"/>
                  <a:gd name="csY1" fmla="*/ 638 h 145520"/>
                  <a:gd name="csX2" fmla="*/ 210059 w 209791"/>
                  <a:gd name="csY2" fmla="*/ 146158 h 145520"/>
                  <a:gd name="csX3" fmla="*/ 267 w 209791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09791" h="145520">
                    <a:moveTo>
                      <a:pt x="267" y="638"/>
                    </a:moveTo>
                    <a:lnTo>
                      <a:pt x="210059" y="638"/>
                    </a:lnTo>
                    <a:lnTo>
                      <a:pt x="210059" y="146158"/>
                    </a:lnTo>
                    <a:lnTo>
                      <a:pt x="267" y="146158"/>
                    </a:lnTo>
                    <a:close/>
                  </a:path>
                </a:pathLst>
              </a:custGeom>
            </p:spPr>
          </p:pic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333162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b="1" kern="0" spc="150" noProof="0" dirty="0">
                <a:solidFill>
                  <a:srgbClr val="127A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LENGUAJE DE PROGRAMACIÓN</a:t>
            </a:r>
            <a:endParaRPr lang="es-CL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822958"/>
            <a:ext cx="333162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s-CL" sz="28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Matriz tecnológica</a:t>
            </a:r>
            <a:endParaRPr lang="es-CL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8565150" y="1000758"/>
            <a:ext cx="28140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s-CL" sz="1200" noProof="0" dirty="0">
                <a:solidFill>
                  <a:srgbClr val="5B67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Versiones declaradas en los manifiestos</a:t>
            </a:r>
            <a:endParaRPr lang="es-CL" sz="1200" noProof="0" dirty="0"/>
          </a:p>
        </p:txBody>
      </p:sp>
      <p:sp>
        <p:nvSpPr>
          <p:cNvPr id="5" name="Shape 3"/>
          <p:cNvSpPr/>
          <p:nvPr/>
        </p:nvSpPr>
        <p:spPr>
          <a:xfrm>
            <a:off x="812800" y="1366521"/>
            <a:ext cx="10566400" cy="4527550"/>
          </a:xfrm>
          <a:prstGeom prst="roundRect">
            <a:avLst>
              <a:gd name="adj" fmla="val 1683"/>
            </a:avLst>
          </a:prstGeom>
          <a:solidFill>
            <a:srgbClr val="FCFDF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812800" y="1366521"/>
            <a:ext cx="10566400" cy="4527550"/>
          </a:xfrm>
          <a:custGeom>
            <a:avLst/>
            <a:gdLst/>
            <a:ahLst/>
            <a:cxnLst/>
            <a:rect l="l" t="t" r="r" b="b"/>
            <a:pathLst>
              <a:path w="10566400" h="4527550">
                <a:moveTo>
                  <a:pt x="10490200" y="0"/>
                </a:moveTo>
                <a:lnTo>
                  <a:pt x="10490200" y="0"/>
                </a:lnTo>
                <a:arcTo wR="76200" hR="76200" stAng="16200000" swAng="5400000"/>
                <a:lnTo>
                  <a:pt x="10566400" y="4451350"/>
                </a:lnTo>
                <a:arcTo wR="76200" hR="76200" stAng="0" swAng="5400000"/>
                <a:lnTo>
                  <a:pt x="76200" y="4527550"/>
                </a:lnTo>
                <a:arcTo wR="76200" hR="76200" stAng="5400000" swAng="5400000"/>
                <a:lnTo>
                  <a:pt x="0" y="4451350"/>
                </a:lnTo>
                <a:arcTo wR="76200" hR="69850" stAng="10800000" swAng="-5400000"/>
                <a:lnTo>
                  <a:pt x="10490200" y="4521200"/>
                </a:lnTo>
                <a:arcTo wR="69850" hR="69850" stAng="5400000" swAng="-5400000"/>
                <a:lnTo>
                  <a:pt x="10560050" y="76200"/>
                </a:lnTo>
                <a:arcTo wR="69850" hR="76200" stAng="0" swAng="-5400000"/>
                <a:close/>
              </a:path>
            </a:pathLst>
          </a:custGeom>
          <a:solidFill>
            <a:srgbClr val="DCE3E9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7" name="Shape 5"/>
          <p:cNvSpPr/>
          <p:nvPr/>
        </p:nvSpPr>
        <p:spPr>
          <a:xfrm>
            <a:off x="812800" y="1366521"/>
            <a:ext cx="10566400" cy="4527550"/>
          </a:xfrm>
          <a:custGeom>
            <a:avLst/>
            <a:gdLst/>
            <a:ahLst/>
            <a:cxnLst/>
            <a:rect l="l" t="t" r="r" b="b"/>
            <a:pathLst>
              <a:path w="10566400" h="4527550">
                <a:moveTo>
                  <a:pt x="76200" y="4527550"/>
                </a:moveTo>
                <a:lnTo>
                  <a:pt x="76200" y="452755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10490200" y="0"/>
                </a:lnTo>
                <a:arcTo wR="76200" hR="76200" stAng="16200000" swAng="5400000"/>
                <a:lnTo>
                  <a:pt x="10566400" y="76200"/>
                </a:lnTo>
                <a:arcTo wR="76200" hR="63500" stAng="0" swAng="-5400000"/>
                <a:lnTo>
                  <a:pt x="76200" y="12700"/>
                </a:lnTo>
                <a:arcTo wR="63500" hR="63500" stAng="16200000" swAng="-5400000"/>
                <a:lnTo>
                  <a:pt x="12700" y="4451350"/>
                </a:lnTo>
                <a:arcTo wR="63500" hR="762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  <p:txBody>
          <a:bodyPr/>
          <a:lstStyle/>
          <a:p>
            <a:endParaRPr lang="es-CL" noProof="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732668"/>
              </p:ext>
            </p:extLst>
          </p:nvPr>
        </p:nvGraphicFramePr>
        <p:xfrm>
          <a:off x="825500" y="1379221"/>
          <a:ext cx="10547350" cy="4538728"/>
        </p:xfrm>
        <a:graphic>
          <a:graphicData uri="http://schemas.openxmlformats.org/drawingml/2006/table">
            <a:tbl>
              <a:tblPr/>
              <a:tblGrid>
                <a:gridCol w="2109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5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3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8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b="1" noProof="0" dirty="0">
                          <a:solidFill>
                            <a:srgbClr val="F4F6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Componente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b="1" noProof="0" dirty="0">
                          <a:solidFill>
                            <a:srgbClr val="F4F6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Lenguaje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b="1" noProof="0" dirty="0">
                          <a:solidFill>
                            <a:srgbClr val="F4F6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Framework / plataforma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b="1" noProof="0" dirty="0">
                          <a:solidFill>
                            <a:srgbClr val="F4F6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Dependencias relevantes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94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Frontend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TypeScript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, HTML, SCSS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Angular 8.2.14 · CLI 8.3.20 · </a:t>
                      </a: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TypeScript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3.5.3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RxJS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6.4, Material 8.2.3, Bootstrap 4.4.1, Chart.js, xlsx, SDK Transbank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Backend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caja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JavaScript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AdonisJS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4.1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Lucid 6.1, </a:t>
                      </a: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pg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8.3, Axios, </a:t>
                      </a: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WebSocket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, </a:t>
                      </a: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Algolia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Backend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concentrador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JavaScript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AdonisJS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4.1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Lucid, </a:t>
                      </a: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pg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, Axios 0.27, </a:t>
                      </a: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node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-cron 3.0, log4js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Sincronizador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JavaScript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AdonisJS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4.1 (app 4.2.0)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amqplib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0.6, </a:t>
                      </a: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pg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8.3, Axios 0.20, </a:t>
                      </a: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node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-cron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API de lectura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JavaScript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AdonisJS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4.1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pg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8.7, Lucid, log4js, compresión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Procesador cola bus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JavaScript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AdonisJS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4.1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amqplib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0.8, </a:t>
                      </a: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pg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8.7, </a:t>
                      </a: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node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-cron, xml2js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594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Bus y mediadores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Java, XML, SQL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WSO2 EI 6.6.0 (Carbon / </a:t>
                      </a: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Synapse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) · Maven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synapse-core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2.1.7, </a:t>
                      </a: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synapse-commons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2.1.2, JDBC, artefactos CAR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594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APIs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corporativas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C#, SQL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.NET Framework 4.5 · ASP.NET MVC / Web API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WCF, ADO.NET, </a:t>
                      </a: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Newtonsoft.Json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, log4net, </a:t>
                      </a: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Npgsql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Consulta de pagos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JavaScript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Node.js · Express 4.17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pg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8.7, </a:t>
                      </a: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Mongoose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5.13, </a:t>
                      </a: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helmet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, </a:t>
                      </a: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cors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3594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Impresión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C#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.NET Framework 4.7.2 · Windows Service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Web API </a:t>
                      </a: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SelfHost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5.2.7, ESC/POS, </a:t>
                      </a: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ZXing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, </a:t>
                      </a:r>
                      <a:r>
                        <a:rPr lang="es-CL" sz="12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iText</a:t>
                      </a:r>
                      <a:r>
                        <a:rPr lang="es-CL" sz="12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, log4net</a:t>
                      </a:r>
                      <a:endParaRPr lang="es-CL" sz="12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B060E878-7102-77C5-DAE5-3AE85008A979}"/>
              </a:ext>
            </a:extLst>
          </p:cNvPr>
          <p:cNvSpPr/>
          <p:nvPr/>
        </p:nvSpPr>
        <p:spPr>
          <a:xfrm flipH="1">
            <a:off x="10753493" y="6626345"/>
            <a:ext cx="1438507" cy="231655"/>
          </a:xfrm>
          <a:custGeom>
            <a:avLst/>
            <a:gdLst>
              <a:gd name="csX0" fmla="*/ 0 w 2456496"/>
              <a:gd name="csY0" fmla="*/ 93 h 518929"/>
              <a:gd name="csX1" fmla="*/ 2278421 w 2456496"/>
              <a:gd name="csY1" fmla="*/ 93 h 518929"/>
              <a:gd name="csX2" fmla="*/ 2456497 w 2456496"/>
              <a:gd name="csY2" fmla="*/ 178170 h 518929"/>
              <a:gd name="csX3" fmla="*/ 2456497 w 2456496"/>
              <a:gd name="csY3" fmla="*/ 518930 h 518929"/>
              <a:gd name="csX4" fmla="*/ 0 w 2456496"/>
              <a:gd name="csY4" fmla="*/ 518930 h 518929"/>
              <a:gd name="csX5" fmla="*/ 0 w 2456496"/>
              <a:gd name="csY5" fmla="*/ 0 h 518929"/>
              <a:gd name="csX6" fmla="*/ 0 w 2456496"/>
              <a:gd name="csY6" fmla="*/ 0 h 5189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56496" h="518929">
                <a:moveTo>
                  <a:pt x="0" y="93"/>
                </a:moveTo>
                <a:lnTo>
                  <a:pt x="2278421" y="93"/>
                </a:lnTo>
                <a:cubicBezTo>
                  <a:pt x="2376740" y="93"/>
                  <a:pt x="2456497" y="79943"/>
                  <a:pt x="2456497" y="178170"/>
                </a:cubicBezTo>
                <a:lnTo>
                  <a:pt x="2456497" y="518930"/>
                </a:lnTo>
                <a:lnTo>
                  <a:pt x="0" y="51893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9581"/>
          </a:solidFill>
          <a:ln w="9328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" name="Imagen 18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014C14C4-601B-6AE1-3197-97E0908D2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131" y="6161339"/>
            <a:ext cx="1096557" cy="801914"/>
          </a:xfrm>
          <a:prstGeom prst="rect">
            <a:avLst/>
          </a:prstGeom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327B9B1E-281C-CC9C-DDF1-94B27295C1CD}"/>
              </a:ext>
            </a:extLst>
          </p:cNvPr>
          <p:cNvGrpSpPr/>
          <p:nvPr/>
        </p:nvGrpSpPr>
        <p:grpSpPr>
          <a:xfrm>
            <a:off x="448370" y="6522174"/>
            <a:ext cx="3712788" cy="261610"/>
            <a:chOff x="448370" y="6513296"/>
            <a:chExt cx="3712788" cy="261610"/>
          </a:xfrm>
        </p:grpSpPr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7EE0846E-5EC8-D9A6-71C4-E6E8D5CBD14E}"/>
                </a:ext>
              </a:extLst>
            </p:cNvPr>
            <p:cNvGrpSpPr/>
            <p:nvPr userDrawn="1"/>
          </p:nvGrpSpPr>
          <p:grpSpPr>
            <a:xfrm>
              <a:off x="448370" y="6513296"/>
              <a:ext cx="2978937" cy="261610"/>
              <a:chOff x="9047344" y="6512423"/>
              <a:chExt cx="3340699" cy="261610"/>
            </a:xfrm>
          </p:grpSpPr>
          <p:sp>
            <p:nvSpPr>
              <p:cNvPr id="26" name="Forma libre: forma 25">
                <a:extLst>
                  <a:ext uri="{FF2B5EF4-FFF2-40B4-BE49-F238E27FC236}">
                    <a16:creationId xmlns:a16="http://schemas.microsoft.com/office/drawing/2014/main" id="{BCE2A37A-A471-01D7-439B-D189F500E5F2}"/>
                  </a:ext>
                </a:extLst>
              </p:cNvPr>
              <p:cNvSpPr/>
              <p:nvPr userDrawn="1"/>
            </p:nvSpPr>
            <p:spPr>
              <a:xfrm>
                <a:off x="9107601" y="6534430"/>
                <a:ext cx="2964589" cy="210603"/>
              </a:xfrm>
              <a:custGeom>
                <a:avLst/>
                <a:gdLst>
                  <a:gd name="csX0" fmla="*/ 2407524 w 2585599"/>
                  <a:gd name="csY0" fmla="*/ 0 h 518836"/>
                  <a:gd name="csX1" fmla="*/ 0 w 2585599"/>
                  <a:gd name="csY1" fmla="*/ 0 h 518836"/>
                  <a:gd name="csX2" fmla="*/ 0 w 2585599"/>
                  <a:gd name="csY2" fmla="*/ 340761 h 518836"/>
                  <a:gd name="csX3" fmla="*/ 178076 w 2585599"/>
                  <a:gd name="csY3" fmla="*/ 518836 h 518836"/>
                  <a:gd name="csX4" fmla="*/ 2585600 w 2585599"/>
                  <a:gd name="csY4" fmla="*/ 518836 h 518836"/>
                  <a:gd name="csX5" fmla="*/ 2585600 w 2585599"/>
                  <a:gd name="csY5" fmla="*/ 178076 h 518836"/>
                  <a:gd name="csX6" fmla="*/ 2407524 w 2585599"/>
                  <a:gd name="csY6" fmla="*/ 0 h 5188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585599" h="518836">
                    <a:moveTo>
                      <a:pt x="2407524" y="0"/>
                    </a:moveTo>
                    <a:lnTo>
                      <a:pt x="0" y="0"/>
                    </a:lnTo>
                    <a:lnTo>
                      <a:pt x="0" y="340761"/>
                    </a:lnTo>
                    <a:cubicBezTo>
                      <a:pt x="0" y="439080"/>
                      <a:pt x="79756" y="518836"/>
                      <a:pt x="178076" y="518836"/>
                    </a:cubicBezTo>
                    <a:lnTo>
                      <a:pt x="2585600" y="518836"/>
                    </a:lnTo>
                    <a:lnTo>
                      <a:pt x="2585600" y="178076"/>
                    </a:lnTo>
                    <a:cubicBezTo>
                      <a:pt x="2585600" y="79756"/>
                      <a:pt x="2505843" y="0"/>
                      <a:pt x="2407524" y="0"/>
                    </a:cubicBezTo>
                    <a:close/>
                  </a:path>
                </a:pathLst>
              </a:custGeom>
              <a:solidFill>
                <a:srgbClr val="046EB6"/>
              </a:solidFill>
              <a:ln w="9328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6EB6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5A9C865-8B62-8978-C92B-D0C2F4A087F6}"/>
                  </a:ext>
                </a:extLst>
              </p:cNvPr>
              <p:cNvSpPr txBox="1"/>
              <p:nvPr userDrawn="1"/>
            </p:nvSpPr>
            <p:spPr>
              <a:xfrm>
                <a:off x="9047344" y="6512423"/>
                <a:ext cx="334069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L" sz="1050" b="1" i="1" u="none" strike="noStrike" kern="1200" cap="none" spc="0" normalizeH="0" baseline="0" noProof="0" dirty="0">
                    <a:ln/>
                    <a:solidFill>
                      <a:srgbClr val="FFFFFF"/>
                    </a:solidFill>
                    <a:effectLst/>
                    <a:uLnTx/>
                    <a:uFillTx/>
                    <a:latin typeface="Acumin Variable Concept"/>
                    <a:ea typeface="+mn-ea"/>
                    <a:cs typeface="+mn-cs"/>
                    <a:sym typeface="Acumin Variable Concept"/>
                    <a:rtl val="0"/>
                  </a:rPr>
                  <a:t>EL SUPERMERCADO DEL TRANSPORTE</a:t>
                </a:r>
              </a:p>
            </p:txBody>
          </p:sp>
        </p:grpSp>
        <p:grpSp>
          <p:nvGrpSpPr>
            <p:cNvPr id="22" name="Gráfico 4">
              <a:extLst>
                <a:ext uri="{FF2B5EF4-FFF2-40B4-BE49-F238E27FC236}">
                  <a16:creationId xmlns:a16="http://schemas.microsoft.com/office/drawing/2014/main" id="{9B3D3BCE-298E-D779-AC41-CBD270F5DFBF}"/>
                </a:ext>
              </a:extLst>
            </p:cNvPr>
            <p:cNvGrpSpPr/>
            <p:nvPr userDrawn="1"/>
          </p:nvGrpSpPr>
          <p:grpSpPr>
            <a:xfrm>
              <a:off x="3427306" y="6567844"/>
              <a:ext cx="733852" cy="145520"/>
              <a:chOff x="2672165" y="6438007"/>
              <a:chExt cx="733852" cy="145520"/>
            </a:xfrm>
          </p:grpSpPr>
          <p:pic>
            <p:nvPicPr>
              <p:cNvPr id="23" name="Imagen 22">
                <a:extLst>
                  <a:ext uri="{FF2B5EF4-FFF2-40B4-BE49-F238E27FC236}">
                    <a16:creationId xmlns:a16="http://schemas.microsoft.com/office/drawing/2014/main" id="{E39C24B5-5C26-5A3D-30E7-98C347C904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72165" y="6438007"/>
                <a:ext cx="215855" cy="145520"/>
              </a:xfrm>
              <a:custGeom>
                <a:avLst/>
                <a:gdLst>
                  <a:gd name="csX0" fmla="*/ 209 w 215855"/>
                  <a:gd name="csY0" fmla="*/ 638 h 145520"/>
                  <a:gd name="csX1" fmla="*/ 216064 w 215855"/>
                  <a:gd name="csY1" fmla="*/ 638 h 145520"/>
                  <a:gd name="csX2" fmla="*/ 216064 w 215855"/>
                  <a:gd name="csY2" fmla="*/ 146158 h 145520"/>
                  <a:gd name="csX3" fmla="*/ 209 w 215855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5855" h="145520">
                    <a:moveTo>
                      <a:pt x="209" y="638"/>
                    </a:moveTo>
                    <a:lnTo>
                      <a:pt x="216064" y="638"/>
                    </a:lnTo>
                    <a:lnTo>
                      <a:pt x="216064" y="146158"/>
                    </a:lnTo>
                    <a:lnTo>
                      <a:pt x="209" y="146158"/>
                    </a:lnTo>
                    <a:close/>
                  </a:path>
                </a:pathLst>
              </a:custGeom>
            </p:spPr>
          </p:pic>
          <p:pic>
            <p:nvPicPr>
              <p:cNvPr id="24" name="Imagen 23">
                <a:extLst>
                  <a:ext uri="{FF2B5EF4-FFF2-40B4-BE49-F238E27FC236}">
                    <a16:creationId xmlns:a16="http://schemas.microsoft.com/office/drawing/2014/main" id="{58C23ECB-2ACC-5BCC-8AE4-EBA1499D62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34755" y="6438007"/>
                <a:ext cx="214642" cy="145520"/>
              </a:xfrm>
              <a:custGeom>
                <a:avLst/>
                <a:gdLst>
                  <a:gd name="csX0" fmla="*/ 238 w 214642"/>
                  <a:gd name="csY0" fmla="*/ 638 h 145520"/>
                  <a:gd name="csX1" fmla="*/ 214880 w 214642"/>
                  <a:gd name="csY1" fmla="*/ 638 h 145520"/>
                  <a:gd name="csX2" fmla="*/ 214880 w 214642"/>
                  <a:gd name="csY2" fmla="*/ 146158 h 145520"/>
                  <a:gd name="csX3" fmla="*/ 238 w 214642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4642" h="145520">
                    <a:moveTo>
                      <a:pt x="238" y="638"/>
                    </a:moveTo>
                    <a:lnTo>
                      <a:pt x="214880" y="638"/>
                    </a:lnTo>
                    <a:lnTo>
                      <a:pt x="214880" y="146158"/>
                    </a:lnTo>
                    <a:lnTo>
                      <a:pt x="238" y="146158"/>
                    </a:lnTo>
                    <a:close/>
                  </a:path>
                </a:pathLst>
              </a:custGeom>
            </p:spPr>
          </p:pic>
          <p:pic>
            <p:nvPicPr>
              <p:cNvPr id="25" name="Imagen 24">
                <a:extLst>
                  <a:ext uri="{FF2B5EF4-FFF2-40B4-BE49-F238E27FC236}">
                    <a16:creationId xmlns:a16="http://schemas.microsoft.com/office/drawing/2014/main" id="{7E02B8E0-24F5-05A3-4CB9-BF9146C71A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96225" y="6438007"/>
                <a:ext cx="209791" cy="145520"/>
              </a:xfrm>
              <a:custGeom>
                <a:avLst/>
                <a:gdLst>
                  <a:gd name="csX0" fmla="*/ 267 w 209791"/>
                  <a:gd name="csY0" fmla="*/ 638 h 145520"/>
                  <a:gd name="csX1" fmla="*/ 210059 w 209791"/>
                  <a:gd name="csY1" fmla="*/ 638 h 145520"/>
                  <a:gd name="csX2" fmla="*/ 210059 w 209791"/>
                  <a:gd name="csY2" fmla="*/ 146158 h 145520"/>
                  <a:gd name="csX3" fmla="*/ 267 w 209791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09791" h="145520">
                    <a:moveTo>
                      <a:pt x="267" y="638"/>
                    </a:moveTo>
                    <a:lnTo>
                      <a:pt x="210059" y="638"/>
                    </a:lnTo>
                    <a:lnTo>
                      <a:pt x="210059" y="146158"/>
                    </a:lnTo>
                    <a:lnTo>
                      <a:pt x="267" y="146158"/>
                    </a:lnTo>
                    <a:close/>
                  </a:path>
                </a:pathLst>
              </a:custGeom>
            </p:spPr>
          </p:pic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b="1" kern="0" spc="150" noProof="0" dirty="0">
                <a:solidFill>
                  <a:srgbClr val="127A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INTEGRACIONES</a:t>
            </a:r>
            <a:endParaRPr lang="es-CL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9880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s-CL" sz="32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Dos formas de comunicarse: en línea y diferido</a:t>
            </a:r>
            <a:endParaRPr lang="es-CL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815975" y="1666875"/>
            <a:ext cx="5187950" cy="2266950"/>
          </a:xfrm>
          <a:prstGeom prst="roundRect">
            <a:avLst>
              <a:gd name="adj" fmla="val 4342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5" name="Image 0" descr="Light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7750" y="1873250"/>
            <a:ext cx="279400" cy="279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28750" y="1875792"/>
            <a:ext cx="290507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L" sz="18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En línea · el cajero espera</a:t>
            </a:r>
            <a:endParaRPr lang="es-CL" sz="1800" noProof="0" dirty="0"/>
          </a:p>
        </p:txBody>
      </p:sp>
      <p:sp>
        <p:nvSpPr>
          <p:cNvPr id="7" name="Text 4"/>
          <p:cNvSpPr/>
          <p:nvPr/>
        </p:nvSpPr>
        <p:spPr>
          <a:xfrm>
            <a:off x="1047750" y="2241550"/>
            <a:ext cx="4866132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68656" algn="l">
              <a:lnSpc>
                <a:spcPts val="1950"/>
              </a:lnSpc>
              <a:buSzPct val="100000"/>
              <a:buChar char="•"/>
            </a:pPr>
            <a:r>
              <a:rPr lang="es-CL" sz="1300" b="1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Aplicación → </a:t>
            </a:r>
            <a:r>
              <a:rPr lang="es-CL" sz="1300" b="1" noProof="0" dirty="0" err="1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backend</a:t>
            </a:r>
            <a:r>
              <a:rPr lang="es-CL" sz="1300" b="1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caja</a:t>
            </a: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toda la operación</a:t>
            </a:r>
            <a:endParaRPr lang="es-CL" sz="1300" noProof="0" dirty="0"/>
          </a:p>
          <a:p>
            <a:pPr marL="198120" indent="-168656" algn="l">
              <a:lnSpc>
                <a:spcPts val="1950"/>
              </a:lnSpc>
              <a:buSzPct val="100000"/>
              <a:buChar char="•"/>
            </a:pPr>
            <a:r>
              <a:rPr lang="es-CL" sz="1300" b="1" noProof="0" dirty="0" err="1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Backend</a:t>
            </a:r>
            <a:r>
              <a:rPr lang="es-CL" sz="1300" b="1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→ API de precios</a:t>
            </a: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precio de cada producto</a:t>
            </a:r>
            <a:endParaRPr lang="es-CL" sz="1300" noProof="0" dirty="0"/>
          </a:p>
          <a:p>
            <a:pPr marL="198120" indent="-168656" algn="l">
              <a:lnSpc>
                <a:spcPts val="1950"/>
              </a:lnSpc>
              <a:buSzPct val="100000"/>
              <a:buChar char="•"/>
            </a:pPr>
            <a:r>
              <a:rPr lang="es-CL" sz="1300" b="1" noProof="0" dirty="0" err="1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Backend</a:t>
            </a:r>
            <a:r>
              <a:rPr lang="es-CL" sz="1300" b="1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→ </a:t>
            </a:r>
            <a:r>
              <a:rPr lang="es-CL" sz="1300" b="1" noProof="0" dirty="0" err="1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APIs</a:t>
            </a:r>
            <a:r>
              <a:rPr lang="es-CL" sz="1300" b="1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AX</a:t>
            </a: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cliente, saldo, orden de venta, NC</a:t>
            </a:r>
            <a:endParaRPr lang="es-CL" sz="1300" noProof="0" dirty="0"/>
          </a:p>
          <a:p>
            <a:pPr marL="198120" indent="-168656" algn="l">
              <a:lnSpc>
                <a:spcPts val="1950"/>
              </a:lnSpc>
              <a:buSzPct val="100000"/>
              <a:buChar char="•"/>
            </a:pPr>
            <a:r>
              <a:rPr lang="es-CL" sz="1300" b="1" noProof="0" dirty="0" err="1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Backend</a:t>
            </a:r>
            <a:r>
              <a:rPr lang="es-CL" sz="1300" b="1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→ facturador</a:t>
            </a: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emisión del DTE (Acepta)</a:t>
            </a:r>
            <a:endParaRPr lang="es-CL" sz="1300" noProof="0" dirty="0"/>
          </a:p>
          <a:p>
            <a:pPr marL="198120" indent="-168656" algn="l">
              <a:lnSpc>
                <a:spcPts val="1950"/>
              </a:lnSpc>
              <a:buSzPct val="100000"/>
              <a:buChar char="•"/>
            </a:pPr>
            <a:r>
              <a:rPr lang="es-CL" sz="1300" b="1" noProof="0" dirty="0" err="1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Backend</a:t>
            </a:r>
            <a:r>
              <a:rPr lang="es-CL" sz="1300" b="1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→ ORSAN / </a:t>
            </a:r>
            <a:r>
              <a:rPr lang="es-CL" sz="1300" b="1" noProof="0" dirty="0" err="1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Instacheck</a:t>
            </a: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cheques y crédito</a:t>
            </a:r>
            <a:endParaRPr lang="es-CL" sz="1300" noProof="0" dirty="0"/>
          </a:p>
          <a:p>
            <a:pPr marL="198120" indent="-168656" algn="l">
              <a:lnSpc>
                <a:spcPts val="1950"/>
              </a:lnSpc>
              <a:buSzPct val="100000"/>
              <a:buChar char="•"/>
            </a:pPr>
            <a:r>
              <a:rPr lang="es-CL" sz="1300" b="1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Navegador → agentes locales</a:t>
            </a: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impresora y Transbank</a:t>
            </a:r>
            <a:endParaRPr lang="es-CL" sz="1300" noProof="0" dirty="0"/>
          </a:p>
        </p:txBody>
      </p:sp>
      <p:sp>
        <p:nvSpPr>
          <p:cNvPr id="8" name="Shape 5"/>
          <p:cNvSpPr/>
          <p:nvPr/>
        </p:nvSpPr>
        <p:spPr>
          <a:xfrm>
            <a:off x="6188075" y="1666875"/>
            <a:ext cx="5187950" cy="2266950"/>
          </a:xfrm>
          <a:prstGeom prst="roundRect">
            <a:avLst>
              <a:gd name="adj" fmla="val 4342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9" name="Image 1" descr="Clo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19850" y="1873250"/>
            <a:ext cx="279400" cy="27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00850" y="1875792"/>
            <a:ext cx="313224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L" sz="18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Diferido · en segundo plano</a:t>
            </a:r>
            <a:endParaRPr lang="es-CL" sz="1800" noProof="0" dirty="0"/>
          </a:p>
        </p:txBody>
      </p:sp>
      <p:sp>
        <p:nvSpPr>
          <p:cNvPr id="11" name="Text 7"/>
          <p:cNvSpPr/>
          <p:nvPr/>
        </p:nvSpPr>
        <p:spPr>
          <a:xfrm>
            <a:off x="6419850" y="2241550"/>
            <a:ext cx="486613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68656" algn="l">
              <a:lnSpc>
                <a:spcPts val="1950"/>
              </a:lnSpc>
              <a:buSzPct val="100000"/>
              <a:buChar char="•"/>
            </a:pPr>
            <a:r>
              <a:rPr lang="es-CL" sz="1300" b="1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Sincronizador → bus central</a:t>
            </a: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sube las transacciones</a:t>
            </a:r>
            <a:endParaRPr lang="es-CL" sz="1300" noProof="0" dirty="0"/>
          </a:p>
          <a:p>
            <a:pPr marL="198120" indent="-168656" algn="l">
              <a:lnSpc>
                <a:spcPts val="1950"/>
              </a:lnSpc>
              <a:buSzPct val="100000"/>
              <a:buChar char="•"/>
            </a:pPr>
            <a:r>
              <a:rPr lang="es-CL" sz="1300" b="1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 → </a:t>
            </a:r>
            <a:r>
              <a:rPr lang="es-CL" sz="1300" b="1" noProof="0" dirty="0" err="1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APIs</a:t>
            </a:r>
            <a:r>
              <a:rPr lang="es-CL" sz="1300" b="1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AX</a:t>
            </a: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registra en el ERP</a:t>
            </a:r>
            <a:endParaRPr lang="es-CL" sz="1300" noProof="0" dirty="0"/>
          </a:p>
          <a:p>
            <a:pPr marL="198120" indent="-168656" algn="l">
              <a:lnSpc>
                <a:spcPts val="1950"/>
              </a:lnSpc>
              <a:buSzPct val="100000"/>
              <a:buChar char="•"/>
            </a:pPr>
            <a:r>
              <a:rPr lang="es-CL" sz="1300" b="1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Broker → sucursal</a:t>
            </a: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avisa cambios y respuestas de AX</a:t>
            </a:r>
            <a:endParaRPr lang="es-CL" sz="1300" noProof="0" dirty="0"/>
          </a:p>
          <a:p>
            <a:pPr marL="198120" indent="-168656" algn="l">
              <a:lnSpc>
                <a:spcPts val="1950"/>
              </a:lnSpc>
              <a:buSzPct val="100000"/>
              <a:buChar char="•"/>
            </a:pPr>
            <a:r>
              <a:rPr lang="es-CL" sz="1300" b="1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Sincronizador → API de lectura</a:t>
            </a: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descarga los maestros</a:t>
            </a:r>
            <a:endParaRPr lang="es-CL" sz="1300" noProof="0" dirty="0"/>
          </a:p>
        </p:txBody>
      </p:sp>
      <p:sp>
        <p:nvSpPr>
          <p:cNvPr id="12" name="Shape 8"/>
          <p:cNvSpPr/>
          <p:nvPr/>
        </p:nvSpPr>
        <p:spPr>
          <a:xfrm>
            <a:off x="812800" y="4165600"/>
            <a:ext cx="10566400" cy="609600"/>
          </a:xfrm>
          <a:prstGeom prst="roundRect">
            <a:avLst>
              <a:gd name="adj" fmla="val 16667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3" name="Image 2" descr="Lightbulb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41400" y="4330700"/>
            <a:ext cx="279400" cy="279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73200" y="4345942"/>
            <a:ext cx="67858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s-CL" sz="1400" b="1" noProof="0" dirty="0">
                <a:solidFill>
                  <a:srgbClr val="F4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Regla práctica:</a:t>
            </a:r>
            <a:r>
              <a:rPr lang="es-CL" sz="1400" noProof="0" dirty="0">
                <a:solidFill>
                  <a:srgbClr val="F4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si el cajero lo ve en pantalla, fue en línea; si llega a AX, fue diferido.</a:t>
            </a:r>
            <a:endParaRPr lang="es-CL" sz="1400" noProof="0" dirty="0"/>
          </a:p>
        </p:txBody>
      </p:sp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B3463A51-E5E4-07B1-EE2E-2B10958F1C2D}"/>
              </a:ext>
            </a:extLst>
          </p:cNvPr>
          <p:cNvSpPr/>
          <p:nvPr/>
        </p:nvSpPr>
        <p:spPr>
          <a:xfrm flipH="1">
            <a:off x="10753493" y="6626345"/>
            <a:ext cx="1438507" cy="231655"/>
          </a:xfrm>
          <a:custGeom>
            <a:avLst/>
            <a:gdLst>
              <a:gd name="csX0" fmla="*/ 0 w 2456496"/>
              <a:gd name="csY0" fmla="*/ 93 h 518929"/>
              <a:gd name="csX1" fmla="*/ 2278421 w 2456496"/>
              <a:gd name="csY1" fmla="*/ 93 h 518929"/>
              <a:gd name="csX2" fmla="*/ 2456497 w 2456496"/>
              <a:gd name="csY2" fmla="*/ 178170 h 518929"/>
              <a:gd name="csX3" fmla="*/ 2456497 w 2456496"/>
              <a:gd name="csY3" fmla="*/ 518930 h 518929"/>
              <a:gd name="csX4" fmla="*/ 0 w 2456496"/>
              <a:gd name="csY4" fmla="*/ 518930 h 518929"/>
              <a:gd name="csX5" fmla="*/ 0 w 2456496"/>
              <a:gd name="csY5" fmla="*/ 0 h 518929"/>
              <a:gd name="csX6" fmla="*/ 0 w 2456496"/>
              <a:gd name="csY6" fmla="*/ 0 h 5189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56496" h="518929">
                <a:moveTo>
                  <a:pt x="0" y="93"/>
                </a:moveTo>
                <a:lnTo>
                  <a:pt x="2278421" y="93"/>
                </a:lnTo>
                <a:cubicBezTo>
                  <a:pt x="2376740" y="93"/>
                  <a:pt x="2456497" y="79943"/>
                  <a:pt x="2456497" y="178170"/>
                </a:cubicBezTo>
                <a:lnTo>
                  <a:pt x="2456497" y="518930"/>
                </a:lnTo>
                <a:lnTo>
                  <a:pt x="0" y="51893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9581"/>
          </a:solidFill>
          <a:ln w="9328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3" name="Imagen 22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9029BEBD-7298-A7EE-F909-F5248C395C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131" y="6161339"/>
            <a:ext cx="1096557" cy="801914"/>
          </a:xfrm>
          <a:prstGeom prst="rect">
            <a:avLst/>
          </a:prstGeom>
        </p:spPr>
      </p:pic>
      <p:grpSp>
        <p:nvGrpSpPr>
          <p:cNvPr id="24" name="Grupo 23">
            <a:extLst>
              <a:ext uri="{FF2B5EF4-FFF2-40B4-BE49-F238E27FC236}">
                <a16:creationId xmlns:a16="http://schemas.microsoft.com/office/drawing/2014/main" id="{B9C7DCDD-FFF5-2F88-AA06-37F252D52ADB}"/>
              </a:ext>
            </a:extLst>
          </p:cNvPr>
          <p:cNvGrpSpPr/>
          <p:nvPr/>
        </p:nvGrpSpPr>
        <p:grpSpPr>
          <a:xfrm>
            <a:off x="448370" y="6522174"/>
            <a:ext cx="3712788" cy="261610"/>
            <a:chOff x="448370" y="6513296"/>
            <a:chExt cx="3712788" cy="261610"/>
          </a:xfrm>
        </p:grpSpPr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C54D6EF9-F5A0-0626-D5B0-A7AF94BDA1D3}"/>
                </a:ext>
              </a:extLst>
            </p:cNvPr>
            <p:cNvGrpSpPr/>
            <p:nvPr userDrawn="1"/>
          </p:nvGrpSpPr>
          <p:grpSpPr>
            <a:xfrm>
              <a:off x="448370" y="6513296"/>
              <a:ext cx="2978937" cy="261610"/>
              <a:chOff x="9047344" y="6512423"/>
              <a:chExt cx="3340699" cy="261610"/>
            </a:xfrm>
          </p:grpSpPr>
          <p:sp>
            <p:nvSpPr>
              <p:cNvPr id="30" name="Forma libre: forma 29">
                <a:extLst>
                  <a:ext uri="{FF2B5EF4-FFF2-40B4-BE49-F238E27FC236}">
                    <a16:creationId xmlns:a16="http://schemas.microsoft.com/office/drawing/2014/main" id="{FCBBFBF4-02FF-9D5E-D7B1-EFCA6CDE1788}"/>
                  </a:ext>
                </a:extLst>
              </p:cNvPr>
              <p:cNvSpPr/>
              <p:nvPr userDrawn="1"/>
            </p:nvSpPr>
            <p:spPr>
              <a:xfrm>
                <a:off x="9107601" y="6534430"/>
                <a:ext cx="2964589" cy="210603"/>
              </a:xfrm>
              <a:custGeom>
                <a:avLst/>
                <a:gdLst>
                  <a:gd name="csX0" fmla="*/ 2407524 w 2585599"/>
                  <a:gd name="csY0" fmla="*/ 0 h 518836"/>
                  <a:gd name="csX1" fmla="*/ 0 w 2585599"/>
                  <a:gd name="csY1" fmla="*/ 0 h 518836"/>
                  <a:gd name="csX2" fmla="*/ 0 w 2585599"/>
                  <a:gd name="csY2" fmla="*/ 340761 h 518836"/>
                  <a:gd name="csX3" fmla="*/ 178076 w 2585599"/>
                  <a:gd name="csY3" fmla="*/ 518836 h 518836"/>
                  <a:gd name="csX4" fmla="*/ 2585600 w 2585599"/>
                  <a:gd name="csY4" fmla="*/ 518836 h 518836"/>
                  <a:gd name="csX5" fmla="*/ 2585600 w 2585599"/>
                  <a:gd name="csY5" fmla="*/ 178076 h 518836"/>
                  <a:gd name="csX6" fmla="*/ 2407524 w 2585599"/>
                  <a:gd name="csY6" fmla="*/ 0 h 5188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585599" h="518836">
                    <a:moveTo>
                      <a:pt x="2407524" y="0"/>
                    </a:moveTo>
                    <a:lnTo>
                      <a:pt x="0" y="0"/>
                    </a:lnTo>
                    <a:lnTo>
                      <a:pt x="0" y="340761"/>
                    </a:lnTo>
                    <a:cubicBezTo>
                      <a:pt x="0" y="439080"/>
                      <a:pt x="79756" y="518836"/>
                      <a:pt x="178076" y="518836"/>
                    </a:cubicBezTo>
                    <a:lnTo>
                      <a:pt x="2585600" y="518836"/>
                    </a:lnTo>
                    <a:lnTo>
                      <a:pt x="2585600" y="178076"/>
                    </a:lnTo>
                    <a:cubicBezTo>
                      <a:pt x="2585600" y="79756"/>
                      <a:pt x="2505843" y="0"/>
                      <a:pt x="2407524" y="0"/>
                    </a:cubicBezTo>
                    <a:close/>
                  </a:path>
                </a:pathLst>
              </a:custGeom>
              <a:solidFill>
                <a:srgbClr val="046EB6"/>
              </a:solidFill>
              <a:ln w="9328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6EB6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A2E02F0A-52C8-A43E-9254-02D5113D796C}"/>
                  </a:ext>
                </a:extLst>
              </p:cNvPr>
              <p:cNvSpPr txBox="1"/>
              <p:nvPr userDrawn="1"/>
            </p:nvSpPr>
            <p:spPr>
              <a:xfrm>
                <a:off x="9047344" y="6512423"/>
                <a:ext cx="334069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L" sz="1050" b="1" i="1" u="none" strike="noStrike" kern="1200" cap="none" spc="0" normalizeH="0" baseline="0" noProof="0" dirty="0">
                    <a:ln/>
                    <a:solidFill>
                      <a:srgbClr val="FFFFFF"/>
                    </a:solidFill>
                    <a:effectLst/>
                    <a:uLnTx/>
                    <a:uFillTx/>
                    <a:latin typeface="Acumin Variable Concept"/>
                    <a:ea typeface="+mn-ea"/>
                    <a:cs typeface="+mn-cs"/>
                    <a:sym typeface="Acumin Variable Concept"/>
                    <a:rtl val="0"/>
                  </a:rPr>
                  <a:t>EL SUPERMERCADO DEL TRANSPORTE</a:t>
                </a:r>
              </a:p>
            </p:txBody>
          </p:sp>
        </p:grpSp>
        <p:grpSp>
          <p:nvGrpSpPr>
            <p:cNvPr id="26" name="Gráfico 4">
              <a:extLst>
                <a:ext uri="{FF2B5EF4-FFF2-40B4-BE49-F238E27FC236}">
                  <a16:creationId xmlns:a16="http://schemas.microsoft.com/office/drawing/2014/main" id="{2FEFE4AA-3D57-2C7E-B925-90405B65DB06}"/>
                </a:ext>
              </a:extLst>
            </p:cNvPr>
            <p:cNvGrpSpPr/>
            <p:nvPr userDrawn="1"/>
          </p:nvGrpSpPr>
          <p:grpSpPr>
            <a:xfrm>
              <a:off x="3427306" y="6567844"/>
              <a:ext cx="733852" cy="145520"/>
              <a:chOff x="2672165" y="6438007"/>
              <a:chExt cx="733852" cy="145520"/>
            </a:xfrm>
          </p:grpSpPr>
          <p:pic>
            <p:nvPicPr>
              <p:cNvPr id="27" name="Imagen 26">
                <a:extLst>
                  <a:ext uri="{FF2B5EF4-FFF2-40B4-BE49-F238E27FC236}">
                    <a16:creationId xmlns:a16="http://schemas.microsoft.com/office/drawing/2014/main" id="{A9A9495A-A0E8-0A68-6529-3738E8FB43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72165" y="6438007"/>
                <a:ext cx="215855" cy="145520"/>
              </a:xfrm>
              <a:custGeom>
                <a:avLst/>
                <a:gdLst>
                  <a:gd name="csX0" fmla="*/ 209 w 215855"/>
                  <a:gd name="csY0" fmla="*/ 638 h 145520"/>
                  <a:gd name="csX1" fmla="*/ 216064 w 215855"/>
                  <a:gd name="csY1" fmla="*/ 638 h 145520"/>
                  <a:gd name="csX2" fmla="*/ 216064 w 215855"/>
                  <a:gd name="csY2" fmla="*/ 146158 h 145520"/>
                  <a:gd name="csX3" fmla="*/ 209 w 215855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5855" h="145520">
                    <a:moveTo>
                      <a:pt x="209" y="638"/>
                    </a:moveTo>
                    <a:lnTo>
                      <a:pt x="216064" y="638"/>
                    </a:lnTo>
                    <a:lnTo>
                      <a:pt x="216064" y="146158"/>
                    </a:lnTo>
                    <a:lnTo>
                      <a:pt x="209" y="146158"/>
                    </a:lnTo>
                    <a:close/>
                  </a:path>
                </a:pathLst>
              </a:custGeom>
            </p:spPr>
          </p:pic>
          <p:pic>
            <p:nvPicPr>
              <p:cNvPr id="28" name="Imagen 27">
                <a:extLst>
                  <a:ext uri="{FF2B5EF4-FFF2-40B4-BE49-F238E27FC236}">
                    <a16:creationId xmlns:a16="http://schemas.microsoft.com/office/drawing/2014/main" id="{1EBCC7CF-3641-21A4-53FA-8A3182F419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34755" y="6438007"/>
                <a:ext cx="214642" cy="145520"/>
              </a:xfrm>
              <a:custGeom>
                <a:avLst/>
                <a:gdLst>
                  <a:gd name="csX0" fmla="*/ 238 w 214642"/>
                  <a:gd name="csY0" fmla="*/ 638 h 145520"/>
                  <a:gd name="csX1" fmla="*/ 214880 w 214642"/>
                  <a:gd name="csY1" fmla="*/ 638 h 145520"/>
                  <a:gd name="csX2" fmla="*/ 214880 w 214642"/>
                  <a:gd name="csY2" fmla="*/ 146158 h 145520"/>
                  <a:gd name="csX3" fmla="*/ 238 w 214642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4642" h="145520">
                    <a:moveTo>
                      <a:pt x="238" y="638"/>
                    </a:moveTo>
                    <a:lnTo>
                      <a:pt x="214880" y="638"/>
                    </a:lnTo>
                    <a:lnTo>
                      <a:pt x="214880" y="146158"/>
                    </a:lnTo>
                    <a:lnTo>
                      <a:pt x="238" y="146158"/>
                    </a:lnTo>
                    <a:close/>
                  </a:path>
                </a:pathLst>
              </a:custGeom>
            </p:spPr>
          </p:pic>
          <p:pic>
            <p:nvPicPr>
              <p:cNvPr id="29" name="Imagen 28">
                <a:extLst>
                  <a:ext uri="{FF2B5EF4-FFF2-40B4-BE49-F238E27FC236}">
                    <a16:creationId xmlns:a16="http://schemas.microsoft.com/office/drawing/2014/main" id="{A4B37ECF-D91D-E800-689D-3BEEE7299D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96225" y="6438007"/>
                <a:ext cx="209791" cy="145520"/>
              </a:xfrm>
              <a:custGeom>
                <a:avLst/>
                <a:gdLst>
                  <a:gd name="csX0" fmla="*/ 267 w 209791"/>
                  <a:gd name="csY0" fmla="*/ 638 h 145520"/>
                  <a:gd name="csX1" fmla="*/ 210059 w 209791"/>
                  <a:gd name="csY1" fmla="*/ 638 h 145520"/>
                  <a:gd name="csX2" fmla="*/ 210059 w 209791"/>
                  <a:gd name="csY2" fmla="*/ 146158 h 145520"/>
                  <a:gd name="csX3" fmla="*/ 267 w 209791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09791" h="145520">
                    <a:moveTo>
                      <a:pt x="267" y="638"/>
                    </a:moveTo>
                    <a:lnTo>
                      <a:pt x="210059" y="638"/>
                    </a:lnTo>
                    <a:lnTo>
                      <a:pt x="210059" y="146158"/>
                    </a:lnTo>
                    <a:lnTo>
                      <a:pt x="267" y="146158"/>
                    </a:lnTo>
                    <a:close/>
                  </a:path>
                </a:pathLst>
              </a:custGeom>
            </p:spPr>
          </p:pic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6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0"/>
              </a:lnSpc>
              <a:buNone/>
            </a:pPr>
            <a:r>
              <a:rPr lang="es-CL" sz="1193" b="1" kern="0" spc="150" noProof="0" dirty="0">
                <a:solidFill>
                  <a:srgbClr val="127A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· SERVICIOS / APIS</a:t>
            </a:r>
            <a:endParaRPr lang="es-CL" sz="1193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985732"/>
            <a:ext cx="10883392" cy="467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s-CL" sz="32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Seis servicios sostienen la operación</a:t>
            </a:r>
            <a:endParaRPr lang="es-CL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815975" y="1659787"/>
            <a:ext cx="3414183" cy="1408430"/>
          </a:xfrm>
          <a:prstGeom prst="roundRect">
            <a:avLst>
              <a:gd name="adj" fmla="val 6087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1022350" y="1840762"/>
            <a:ext cx="30914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b="1" kern="0" spc="100" noProof="0" dirty="0">
                <a:solidFill>
                  <a:srgbClr val="046EB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SUCURSAL</a:t>
            </a:r>
            <a:endParaRPr lang="es-CL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1022350" y="2117620"/>
            <a:ext cx="309147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s-CL" sz="1600" b="1" noProof="0" dirty="0" err="1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Backend</a:t>
            </a:r>
            <a:r>
              <a:rPr lang="es-CL" sz="16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 caja</a:t>
            </a:r>
            <a:endParaRPr lang="es-CL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1022350" y="2424962"/>
            <a:ext cx="309147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principal: ventas, pagos, cierre, DTE y reportes.</a:t>
            </a:r>
            <a:endParaRPr lang="es-CL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4388908" y="1659787"/>
            <a:ext cx="3414183" cy="1408430"/>
          </a:xfrm>
          <a:prstGeom prst="roundRect">
            <a:avLst>
              <a:gd name="adj" fmla="val 6087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4595283" y="1840762"/>
            <a:ext cx="30914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b="1" kern="0" spc="100" noProof="0" dirty="0">
                <a:solidFill>
                  <a:srgbClr val="046EB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SUCURSAL</a:t>
            </a:r>
            <a:endParaRPr lang="es-CL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4595283" y="2117620"/>
            <a:ext cx="309147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s-CL" sz="16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Sincronizador</a:t>
            </a:r>
            <a:endParaRPr lang="es-CL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4595283" y="2424962"/>
            <a:ext cx="309147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Proceso aparte: sube transacciones y baja maestros.</a:t>
            </a:r>
            <a:endParaRPr lang="es-CL" sz="1300" noProof="0" dirty="0"/>
          </a:p>
        </p:txBody>
      </p:sp>
      <p:sp>
        <p:nvSpPr>
          <p:cNvPr id="12" name="Shape 10"/>
          <p:cNvSpPr/>
          <p:nvPr/>
        </p:nvSpPr>
        <p:spPr>
          <a:xfrm>
            <a:off x="7961842" y="1659787"/>
            <a:ext cx="3414183" cy="1408430"/>
          </a:xfrm>
          <a:prstGeom prst="roundRect">
            <a:avLst>
              <a:gd name="adj" fmla="val 6087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11"/>
          <p:cNvSpPr/>
          <p:nvPr/>
        </p:nvSpPr>
        <p:spPr>
          <a:xfrm>
            <a:off x="8168217" y="1840762"/>
            <a:ext cx="30914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b="1" kern="0" spc="100" noProof="0" dirty="0">
                <a:solidFill>
                  <a:srgbClr val="127A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CENTRAL</a:t>
            </a:r>
            <a:endParaRPr lang="es-CL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8168217" y="2117620"/>
            <a:ext cx="309147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s-CL" sz="16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API de lectura</a:t>
            </a:r>
            <a:endParaRPr lang="es-CL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168217" y="2424962"/>
            <a:ext cx="309147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Entrega a cada sucursal sus lotes de maestros pendientes.</a:t>
            </a:r>
            <a:endParaRPr lang="es-CL" sz="1300" noProof="0" dirty="0"/>
          </a:p>
        </p:txBody>
      </p:sp>
      <p:sp>
        <p:nvSpPr>
          <p:cNvPr id="16" name="Shape 14"/>
          <p:cNvSpPr/>
          <p:nvPr/>
        </p:nvSpPr>
        <p:spPr>
          <a:xfrm>
            <a:off x="815975" y="3226966"/>
            <a:ext cx="3414183" cy="1620732"/>
          </a:xfrm>
          <a:prstGeom prst="roundRect">
            <a:avLst>
              <a:gd name="adj" fmla="val 5289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5"/>
          <p:cNvSpPr/>
          <p:nvPr/>
        </p:nvSpPr>
        <p:spPr>
          <a:xfrm>
            <a:off x="1022350" y="3407941"/>
            <a:ext cx="3091476" cy="232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0"/>
              </a:lnSpc>
              <a:buNone/>
            </a:pPr>
            <a:r>
              <a:rPr lang="es-CL" sz="1193" b="1" kern="0" spc="100" noProof="0" dirty="0">
                <a:solidFill>
                  <a:srgbClr val="127A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CENTRAL</a:t>
            </a:r>
            <a:endParaRPr lang="es-CL" sz="1193" noProof="0" dirty="0"/>
          </a:p>
        </p:txBody>
      </p:sp>
      <p:sp>
        <p:nvSpPr>
          <p:cNvPr id="18" name="Text 16"/>
          <p:cNvSpPr/>
          <p:nvPr/>
        </p:nvSpPr>
        <p:spPr>
          <a:xfrm>
            <a:off x="1022350" y="3678975"/>
            <a:ext cx="3091476" cy="499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4"/>
              </a:lnSpc>
              <a:buNone/>
            </a:pPr>
            <a:r>
              <a:rPr lang="es-CL" sz="157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Administración del concentrador</a:t>
            </a:r>
            <a:endParaRPr lang="es-CL" sz="1570" noProof="0" dirty="0"/>
          </a:p>
        </p:txBody>
      </p:sp>
      <p:sp>
        <p:nvSpPr>
          <p:cNvPr id="19" name="Text 17"/>
          <p:cNvSpPr/>
          <p:nvPr/>
        </p:nvSpPr>
        <p:spPr>
          <a:xfrm>
            <a:off x="1022350" y="4216927"/>
            <a:ext cx="3091476" cy="475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6"/>
              </a:lnSpc>
              <a:buNone/>
            </a:pPr>
            <a:r>
              <a:rPr lang="es-CL" sz="1276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Tablero de mensajes y errores; también reintenta envíos.</a:t>
            </a:r>
            <a:endParaRPr lang="es-CL" sz="1276" noProof="0" dirty="0"/>
          </a:p>
        </p:txBody>
      </p:sp>
      <p:sp>
        <p:nvSpPr>
          <p:cNvPr id="20" name="Shape 18"/>
          <p:cNvSpPr/>
          <p:nvPr/>
        </p:nvSpPr>
        <p:spPr>
          <a:xfrm>
            <a:off x="4388908" y="3226966"/>
            <a:ext cx="3414183" cy="1620732"/>
          </a:xfrm>
          <a:prstGeom prst="roundRect">
            <a:avLst>
              <a:gd name="adj" fmla="val 5289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Text 19"/>
          <p:cNvSpPr/>
          <p:nvPr/>
        </p:nvSpPr>
        <p:spPr>
          <a:xfrm>
            <a:off x="4595283" y="3407941"/>
            <a:ext cx="30914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b="1" kern="0" spc="100" noProof="0" dirty="0">
                <a:solidFill>
                  <a:srgbClr val="C261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ERP</a:t>
            </a:r>
            <a:endParaRPr lang="es-CL" sz="1200" noProof="0" dirty="0"/>
          </a:p>
        </p:txBody>
      </p:sp>
      <p:sp>
        <p:nvSpPr>
          <p:cNvPr id="22" name="Text 20"/>
          <p:cNvSpPr/>
          <p:nvPr/>
        </p:nvSpPr>
        <p:spPr>
          <a:xfrm>
            <a:off x="4595283" y="3684798"/>
            <a:ext cx="309147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s-CL" sz="1600" b="1" noProof="0" dirty="0" err="1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APIs</a:t>
            </a:r>
            <a:r>
              <a:rPr lang="es-CL" sz="16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 integración con AX</a:t>
            </a:r>
            <a:endParaRPr lang="es-CL" sz="1600" noProof="0" dirty="0"/>
          </a:p>
        </p:txBody>
      </p:sp>
      <p:sp>
        <p:nvSpPr>
          <p:cNvPr id="23" name="Text 21"/>
          <p:cNvSpPr/>
          <p:nvPr/>
        </p:nvSpPr>
        <p:spPr>
          <a:xfrm>
            <a:off x="4595283" y="3992141"/>
            <a:ext cx="309147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Traducen las solicitudes de la caja al idioma de Dynamics AX.</a:t>
            </a:r>
            <a:endParaRPr lang="es-CL" sz="1300" noProof="0" dirty="0"/>
          </a:p>
        </p:txBody>
      </p:sp>
      <p:sp>
        <p:nvSpPr>
          <p:cNvPr id="24" name="Shape 22"/>
          <p:cNvSpPr/>
          <p:nvPr/>
        </p:nvSpPr>
        <p:spPr>
          <a:xfrm>
            <a:off x="7961842" y="3226966"/>
            <a:ext cx="3414183" cy="1620732"/>
          </a:xfrm>
          <a:prstGeom prst="roundRect">
            <a:avLst>
              <a:gd name="adj" fmla="val 5289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Text 23"/>
          <p:cNvSpPr/>
          <p:nvPr/>
        </p:nvSpPr>
        <p:spPr>
          <a:xfrm>
            <a:off x="8168217" y="3407941"/>
            <a:ext cx="30914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b="1" kern="0" spc="100" noProof="0" dirty="0">
                <a:solidFill>
                  <a:srgbClr val="C261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ERP</a:t>
            </a:r>
            <a:endParaRPr lang="es-CL" sz="1200" noProof="0" dirty="0"/>
          </a:p>
        </p:txBody>
      </p:sp>
      <p:sp>
        <p:nvSpPr>
          <p:cNvPr id="26" name="Text 24"/>
          <p:cNvSpPr/>
          <p:nvPr/>
        </p:nvSpPr>
        <p:spPr>
          <a:xfrm>
            <a:off x="8168217" y="3684798"/>
            <a:ext cx="309147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s-CL" sz="16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API de consulta de pagos</a:t>
            </a:r>
            <a:endParaRPr lang="es-CL" sz="1600" noProof="0" dirty="0"/>
          </a:p>
        </p:txBody>
      </p:sp>
      <p:sp>
        <p:nvSpPr>
          <p:cNvPr id="27" name="Text 25"/>
          <p:cNvSpPr/>
          <p:nvPr/>
        </p:nvSpPr>
        <p:spPr>
          <a:xfrm>
            <a:off x="8168217" y="3992141"/>
            <a:ext cx="309147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Pagos pendientes de sincronizar y estado de notas de crédito.</a:t>
            </a:r>
            <a:endParaRPr lang="es-CL" sz="1300" noProof="0" dirty="0"/>
          </a:p>
        </p:txBody>
      </p:sp>
      <p:sp>
        <p:nvSpPr>
          <p:cNvPr id="28" name="Shape 26"/>
          <p:cNvSpPr/>
          <p:nvPr/>
        </p:nvSpPr>
        <p:spPr>
          <a:xfrm>
            <a:off x="812800" y="5079473"/>
            <a:ext cx="10566400" cy="762529"/>
          </a:xfrm>
          <a:prstGeom prst="roundRect">
            <a:avLst>
              <a:gd name="adj" fmla="val 13324"/>
            </a:avLst>
          </a:prstGeom>
          <a:solidFill>
            <a:srgbClr val="E3EDF5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29" name="Image 0" descr="Lightbulb"/>
          <p:cNvPicPr>
            <a:picLocks noChangeAspect="1"/>
          </p:cNvPicPr>
          <p:nvPr/>
        </p:nvPicPr>
        <p:blipFill>
          <a:blip r:embed="rId3"/>
          <a:srcRect l="-219" r="-219"/>
          <a:stretch/>
        </p:blipFill>
        <p:spPr>
          <a:xfrm>
            <a:off x="1130967" y="5273870"/>
            <a:ext cx="242358" cy="2540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436158" y="5079473"/>
            <a:ext cx="10005875" cy="761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endParaRPr lang="es-CL" sz="1300" noProof="0" dirty="0">
              <a:solidFill>
                <a:srgbClr val="1F2A37"/>
              </a:solidFill>
              <a:latin typeface="IBM Plex Sans" pitchFamily="34" charset="0"/>
              <a:ea typeface="IBM Plex Sans" pitchFamily="34" charset="-122"/>
              <a:cs typeface="IBM Plex Sans" pitchFamily="34" charset="-120"/>
            </a:endParaRPr>
          </a:p>
          <a:p>
            <a:pPr marL="0" indent="0" algn="l">
              <a:lnSpc>
                <a:spcPts val="1820"/>
              </a:lnSpc>
              <a:buNone/>
            </a:pPr>
            <a:r>
              <a:rPr lang="es-CL" sz="1300" noProof="0" dirty="0">
                <a:solidFill>
                  <a:srgbClr val="1F2A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«Concentrador» se usa para tres cosas distintas: el bus, su administración y la API de lectura. </a:t>
            </a:r>
            <a:endParaRPr lang="es-CL" sz="1300" noProof="0" dirty="0"/>
          </a:p>
        </p:txBody>
      </p:sp>
      <p:sp>
        <p:nvSpPr>
          <p:cNvPr id="38" name="Forma libre: forma 37">
            <a:extLst>
              <a:ext uri="{FF2B5EF4-FFF2-40B4-BE49-F238E27FC236}">
                <a16:creationId xmlns:a16="http://schemas.microsoft.com/office/drawing/2014/main" id="{EEDEDBF1-A5E5-B48D-53A3-A0109B92E1FF}"/>
              </a:ext>
            </a:extLst>
          </p:cNvPr>
          <p:cNvSpPr/>
          <p:nvPr/>
        </p:nvSpPr>
        <p:spPr>
          <a:xfrm flipH="1">
            <a:off x="10753493" y="6626345"/>
            <a:ext cx="1438507" cy="231655"/>
          </a:xfrm>
          <a:custGeom>
            <a:avLst/>
            <a:gdLst>
              <a:gd name="csX0" fmla="*/ 0 w 2456496"/>
              <a:gd name="csY0" fmla="*/ 93 h 518929"/>
              <a:gd name="csX1" fmla="*/ 2278421 w 2456496"/>
              <a:gd name="csY1" fmla="*/ 93 h 518929"/>
              <a:gd name="csX2" fmla="*/ 2456497 w 2456496"/>
              <a:gd name="csY2" fmla="*/ 178170 h 518929"/>
              <a:gd name="csX3" fmla="*/ 2456497 w 2456496"/>
              <a:gd name="csY3" fmla="*/ 518930 h 518929"/>
              <a:gd name="csX4" fmla="*/ 0 w 2456496"/>
              <a:gd name="csY4" fmla="*/ 518930 h 518929"/>
              <a:gd name="csX5" fmla="*/ 0 w 2456496"/>
              <a:gd name="csY5" fmla="*/ 0 h 518929"/>
              <a:gd name="csX6" fmla="*/ 0 w 2456496"/>
              <a:gd name="csY6" fmla="*/ 0 h 5189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56496" h="518929">
                <a:moveTo>
                  <a:pt x="0" y="93"/>
                </a:moveTo>
                <a:lnTo>
                  <a:pt x="2278421" y="93"/>
                </a:lnTo>
                <a:cubicBezTo>
                  <a:pt x="2376740" y="93"/>
                  <a:pt x="2456497" y="79943"/>
                  <a:pt x="2456497" y="178170"/>
                </a:cubicBezTo>
                <a:lnTo>
                  <a:pt x="2456497" y="518930"/>
                </a:lnTo>
                <a:lnTo>
                  <a:pt x="0" y="51893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9581"/>
          </a:solidFill>
          <a:ln w="9328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9" name="Imagen 38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545FD4BF-F9A1-49D7-7274-BD66C839FF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131" y="6161339"/>
            <a:ext cx="1096557" cy="801914"/>
          </a:xfrm>
          <a:prstGeom prst="rect">
            <a:avLst/>
          </a:prstGeom>
        </p:spPr>
      </p:pic>
      <p:grpSp>
        <p:nvGrpSpPr>
          <p:cNvPr id="40" name="Grupo 39">
            <a:extLst>
              <a:ext uri="{FF2B5EF4-FFF2-40B4-BE49-F238E27FC236}">
                <a16:creationId xmlns:a16="http://schemas.microsoft.com/office/drawing/2014/main" id="{E5EA0FB3-4BC7-47F0-8B5E-9034BC8670EE}"/>
              </a:ext>
            </a:extLst>
          </p:cNvPr>
          <p:cNvGrpSpPr/>
          <p:nvPr/>
        </p:nvGrpSpPr>
        <p:grpSpPr>
          <a:xfrm>
            <a:off x="448370" y="6522174"/>
            <a:ext cx="3712788" cy="261610"/>
            <a:chOff x="448370" y="6513296"/>
            <a:chExt cx="3712788" cy="261610"/>
          </a:xfrm>
        </p:grpSpPr>
        <p:grpSp>
          <p:nvGrpSpPr>
            <p:cNvPr id="41" name="Grupo 40">
              <a:extLst>
                <a:ext uri="{FF2B5EF4-FFF2-40B4-BE49-F238E27FC236}">
                  <a16:creationId xmlns:a16="http://schemas.microsoft.com/office/drawing/2014/main" id="{567D608A-4211-C65A-6624-F598A94C5A94}"/>
                </a:ext>
              </a:extLst>
            </p:cNvPr>
            <p:cNvGrpSpPr/>
            <p:nvPr userDrawn="1"/>
          </p:nvGrpSpPr>
          <p:grpSpPr>
            <a:xfrm>
              <a:off x="448370" y="6513296"/>
              <a:ext cx="2978937" cy="261610"/>
              <a:chOff x="9047344" y="6512423"/>
              <a:chExt cx="3340699" cy="261610"/>
            </a:xfrm>
          </p:grpSpPr>
          <p:sp>
            <p:nvSpPr>
              <p:cNvPr id="46" name="Forma libre: forma 45">
                <a:extLst>
                  <a:ext uri="{FF2B5EF4-FFF2-40B4-BE49-F238E27FC236}">
                    <a16:creationId xmlns:a16="http://schemas.microsoft.com/office/drawing/2014/main" id="{725D250C-C42C-C67D-1121-2B59D4B46811}"/>
                  </a:ext>
                </a:extLst>
              </p:cNvPr>
              <p:cNvSpPr/>
              <p:nvPr userDrawn="1"/>
            </p:nvSpPr>
            <p:spPr>
              <a:xfrm>
                <a:off x="9107601" y="6534430"/>
                <a:ext cx="2964589" cy="210603"/>
              </a:xfrm>
              <a:custGeom>
                <a:avLst/>
                <a:gdLst>
                  <a:gd name="csX0" fmla="*/ 2407524 w 2585599"/>
                  <a:gd name="csY0" fmla="*/ 0 h 518836"/>
                  <a:gd name="csX1" fmla="*/ 0 w 2585599"/>
                  <a:gd name="csY1" fmla="*/ 0 h 518836"/>
                  <a:gd name="csX2" fmla="*/ 0 w 2585599"/>
                  <a:gd name="csY2" fmla="*/ 340761 h 518836"/>
                  <a:gd name="csX3" fmla="*/ 178076 w 2585599"/>
                  <a:gd name="csY3" fmla="*/ 518836 h 518836"/>
                  <a:gd name="csX4" fmla="*/ 2585600 w 2585599"/>
                  <a:gd name="csY4" fmla="*/ 518836 h 518836"/>
                  <a:gd name="csX5" fmla="*/ 2585600 w 2585599"/>
                  <a:gd name="csY5" fmla="*/ 178076 h 518836"/>
                  <a:gd name="csX6" fmla="*/ 2407524 w 2585599"/>
                  <a:gd name="csY6" fmla="*/ 0 h 5188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585599" h="518836">
                    <a:moveTo>
                      <a:pt x="2407524" y="0"/>
                    </a:moveTo>
                    <a:lnTo>
                      <a:pt x="0" y="0"/>
                    </a:lnTo>
                    <a:lnTo>
                      <a:pt x="0" y="340761"/>
                    </a:lnTo>
                    <a:cubicBezTo>
                      <a:pt x="0" y="439080"/>
                      <a:pt x="79756" y="518836"/>
                      <a:pt x="178076" y="518836"/>
                    </a:cubicBezTo>
                    <a:lnTo>
                      <a:pt x="2585600" y="518836"/>
                    </a:lnTo>
                    <a:lnTo>
                      <a:pt x="2585600" y="178076"/>
                    </a:lnTo>
                    <a:cubicBezTo>
                      <a:pt x="2585600" y="79756"/>
                      <a:pt x="2505843" y="0"/>
                      <a:pt x="2407524" y="0"/>
                    </a:cubicBezTo>
                    <a:close/>
                  </a:path>
                </a:pathLst>
              </a:custGeom>
              <a:solidFill>
                <a:srgbClr val="046EB6"/>
              </a:solidFill>
              <a:ln w="9328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6EB6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364F563E-4363-A50E-3B42-D7419962471C}"/>
                  </a:ext>
                </a:extLst>
              </p:cNvPr>
              <p:cNvSpPr txBox="1"/>
              <p:nvPr userDrawn="1"/>
            </p:nvSpPr>
            <p:spPr>
              <a:xfrm>
                <a:off x="9047344" y="6512423"/>
                <a:ext cx="334069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L" sz="1050" b="1" i="1" u="none" strike="noStrike" kern="1200" cap="none" spc="0" normalizeH="0" baseline="0" noProof="0" dirty="0">
                    <a:ln/>
                    <a:solidFill>
                      <a:srgbClr val="FFFFFF"/>
                    </a:solidFill>
                    <a:effectLst/>
                    <a:uLnTx/>
                    <a:uFillTx/>
                    <a:latin typeface="Acumin Variable Concept"/>
                    <a:ea typeface="+mn-ea"/>
                    <a:cs typeface="+mn-cs"/>
                    <a:sym typeface="Acumin Variable Concept"/>
                    <a:rtl val="0"/>
                  </a:rPr>
                  <a:t>EL SUPERMERCADO DEL TRANSPORTE</a:t>
                </a:r>
              </a:p>
            </p:txBody>
          </p:sp>
        </p:grpSp>
        <p:grpSp>
          <p:nvGrpSpPr>
            <p:cNvPr id="42" name="Gráfico 4">
              <a:extLst>
                <a:ext uri="{FF2B5EF4-FFF2-40B4-BE49-F238E27FC236}">
                  <a16:creationId xmlns:a16="http://schemas.microsoft.com/office/drawing/2014/main" id="{79E772E4-8EB5-538D-FC2F-3DBDE6E40C4E}"/>
                </a:ext>
              </a:extLst>
            </p:cNvPr>
            <p:cNvGrpSpPr/>
            <p:nvPr userDrawn="1"/>
          </p:nvGrpSpPr>
          <p:grpSpPr>
            <a:xfrm>
              <a:off x="3427306" y="6567844"/>
              <a:ext cx="733852" cy="145520"/>
              <a:chOff x="2672165" y="6438007"/>
              <a:chExt cx="733852" cy="145520"/>
            </a:xfrm>
          </p:grpSpPr>
          <p:pic>
            <p:nvPicPr>
              <p:cNvPr id="43" name="Imagen 42">
                <a:extLst>
                  <a:ext uri="{FF2B5EF4-FFF2-40B4-BE49-F238E27FC236}">
                    <a16:creationId xmlns:a16="http://schemas.microsoft.com/office/drawing/2014/main" id="{AAB799BB-F047-C6B8-38B0-AC9501C617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72165" y="6438007"/>
                <a:ext cx="215855" cy="145520"/>
              </a:xfrm>
              <a:custGeom>
                <a:avLst/>
                <a:gdLst>
                  <a:gd name="csX0" fmla="*/ 209 w 215855"/>
                  <a:gd name="csY0" fmla="*/ 638 h 145520"/>
                  <a:gd name="csX1" fmla="*/ 216064 w 215855"/>
                  <a:gd name="csY1" fmla="*/ 638 h 145520"/>
                  <a:gd name="csX2" fmla="*/ 216064 w 215855"/>
                  <a:gd name="csY2" fmla="*/ 146158 h 145520"/>
                  <a:gd name="csX3" fmla="*/ 209 w 215855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5855" h="145520">
                    <a:moveTo>
                      <a:pt x="209" y="638"/>
                    </a:moveTo>
                    <a:lnTo>
                      <a:pt x="216064" y="638"/>
                    </a:lnTo>
                    <a:lnTo>
                      <a:pt x="216064" y="146158"/>
                    </a:lnTo>
                    <a:lnTo>
                      <a:pt x="209" y="146158"/>
                    </a:lnTo>
                    <a:close/>
                  </a:path>
                </a:pathLst>
              </a:custGeom>
            </p:spPr>
          </p:pic>
          <p:pic>
            <p:nvPicPr>
              <p:cNvPr id="44" name="Imagen 43">
                <a:extLst>
                  <a:ext uri="{FF2B5EF4-FFF2-40B4-BE49-F238E27FC236}">
                    <a16:creationId xmlns:a16="http://schemas.microsoft.com/office/drawing/2014/main" id="{D82803C2-F929-F17A-99F2-363B8E29AA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34755" y="6438007"/>
                <a:ext cx="214642" cy="145520"/>
              </a:xfrm>
              <a:custGeom>
                <a:avLst/>
                <a:gdLst>
                  <a:gd name="csX0" fmla="*/ 238 w 214642"/>
                  <a:gd name="csY0" fmla="*/ 638 h 145520"/>
                  <a:gd name="csX1" fmla="*/ 214880 w 214642"/>
                  <a:gd name="csY1" fmla="*/ 638 h 145520"/>
                  <a:gd name="csX2" fmla="*/ 214880 w 214642"/>
                  <a:gd name="csY2" fmla="*/ 146158 h 145520"/>
                  <a:gd name="csX3" fmla="*/ 238 w 214642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4642" h="145520">
                    <a:moveTo>
                      <a:pt x="238" y="638"/>
                    </a:moveTo>
                    <a:lnTo>
                      <a:pt x="214880" y="638"/>
                    </a:lnTo>
                    <a:lnTo>
                      <a:pt x="214880" y="146158"/>
                    </a:lnTo>
                    <a:lnTo>
                      <a:pt x="238" y="146158"/>
                    </a:lnTo>
                    <a:close/>
                  </a:path>
                </a:pathLst>
              </a:custGeom>
            </p:spPr>
          </p:pic>
          <p:pic>
            <p:nvPicPr>
              <p:cNvPr id="45" name="Imagen 44">
                <a:extLst>
                  <a:ext uri="{FF2B5EF4-FFF2-40B4-BE49-F238E27FC236}">
                    <a16:creationId xmlns:a16="http://schemas.microsoft.com/office/drawing/2014/main" id="{E4CE22F3-4F55-1A4E-B5DE-36A1B360C2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96225" y="6438007"/>
                <a:ext cx="209791" cy="145520"/>
              </a:xfrm>
              <a:custGeom>
                <a:avLst/>
                <a:gdLst>
                  <a:gd name="csX0" fmla="*/ 267 w 209791"/>
                  <a:gd name="csY0" fmla="*/ 638 h 145520"/>
                  <a:gd name="csX1" fmla="*/ 210059 w 209791"/>
                  <a:gd name="csY1" fmla="*/ 638 h 145520"/>
                  <a:gd name="csX2" fmla="*/ 210059 w 209791"/>
                  <a:gd name="csY2" fmla="*/ 146158 h 145520"/>
                  <a:gd name="csX3" fmla="*/ 267 w 209791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09791" h="145520">
                    <a:moveTo>
                      <a:pt x="267" y="638"/>
                    </a:moveTo>
                    <a:lnTo>
                      <a:pt x="210059" y="638"/>
                    </a:lnTo>
                    <a:lnTo>
                      <a:pt x="210059" y="146158"/>
                    </a:lnTo>
                    <a:lnTo>
                      <a:pt x="267" y="146158"/>
                    </a:lnTo>
                    <a:close/>
                  </a:path>
                </a:pathLst>
              </a:custGeom>
            </p:spPr>
          </p:pic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b="1" kern="0" spc="150" noProof="0" dirty="0">
                <a:solidFill>
                  <a:srgbClr val="127A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· BUS DE DATOS</a:t>
            </a:r>
            <a:endParaRPr lang="es-CL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9880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s-CL" sz="32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Subida de transacciones y bajada de maestros</a:t>
            </a:r>
            <a:endParaRPr lang="es-CL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815975" y="1641475"/>
            <a:ext cx="5187950" cy="2034540"/>
          </a:xfrm>
          <a:prstGeom prst="roundRect">
            <a:avLst>
              <a:gd name="adj" fmla="val 4838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5" name="Image 0" descr="arrow-u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7750" y="1835150"/>
            <a:ext cx="1905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39850" y="1850392"/>
            <a:ext cx="238226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L" sz="18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Subida · tienda → AX</a:t>
            </a:r>
            <a:endParaRPr lang="es-CL" sz="1800" noProof="0" dirty="0"/>
          </a:p>
        </p:txBody>
      </p:sp>
      <p:sp>
        <p:nvSpPr>
          <p:cNvPr id="7" name="Text 4"/>
          <p:cNvSpPr/>
          <p:nvPr/>
        </p:nvSpPr>
        <p:spPr>
          <a:xfrm>
            <a:off x="1047750" y="2228850"/>
            <a:ext cx="4866132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sincronizador revisa </a:t>
            </a:r>
            <a:r>
              <a:rPr lang="es-CL" sz="1300" b="1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minuto</a:t>
            </a: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y envía 11 tipos de transacción al bus, que las registra en AX.</a:t>
            </a:r>
            <a:endParaRPr lang="es-CL" sz="1300" noProof="0" dirty="0"/>
          </a:p>
        </p:txBody>
      </p:sp>
      <p:sp>
        <p:nvSpPr>
          <p:cNvPr id="8" name="Text 5"/>
          <p:cNvSpPr/>
          <p:nvPr/>
        </p:nvSpPr>
        <p:spPr>
          <a:xfrm>
            <a:off x="1047750" y="2796542"/>
            <a:ext cx="486613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s-CL" sz="1200" noProof="0" dirty="0">
                <a:solidFill>
                  <a:srgbClr val="1B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Ventas · pagos · notas de crédito · clientes · direcciones · contactos · arqueos · sobrantes y faltantes · anticipos · abonos de cobranza · devoluciones</a:t>
            </a:r>
            <a:endParaRPr lang="es-CL" sz="1200" noProof="0" dirty="0"/>
          </a:p>
        </p:txBody>
      </p:sp>
      <p:sp>
        <p:nvSpPr>
          <p:cNvPr id="9" name="Shape 6"/>
          <p:cNvSpPr/>
          <p:nvPr/>
        </p:nvSpPr>
        <p:spPr>
          <a:xfrm>
            <a:off x="6188075" y="1641475"/>
            <a:ext cx="5187950" cy="2034540"/>
          </a:xfrm>
          <a:prstGeom prst="roundRect">
            <a:avLst>
              <a:gd name="adj" fmla="val 4838"/>
            </a:avLst>
          </a:prstGeom>
          <a:solidFill>
            <a:srgbClr val="FCFDFE"/>
          </a:solidFill>
          <a:ln w="635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10" name="Image 1" descr="arrow-down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19850" y="1835150"/>
            <a:ext cx="190500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11950" y="1850392"/>
            <a:ext cx="238052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L" sz="18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Bajada · AX → tienda</a:t>
            </a:r>
            <a:endParaRPr lang="es-CL" sz="1800" noProof="0" dirty="0"/>
          </a:p>
        </p:txBody>
      </p:sp>
      <p:sp>
        <p:nvSpPr>
          <p:cNvPr id="12" name="Text 8"/>
          <p:cNvSpPr/>
          <p:nvPr/>
        </p:nvSpPr>
        <p:spPr>
          <a:xfrm>
            <a:off x="6419850" y="2228850"/>
            <a:ext cx="4866132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bus detecta cambios en AX, </a:t>
            </a:r>
            <a:r>
              <a:rPr lang="es-CL" sz="1300" b="1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avisa por cola</a:t>
            </a:r>
            <a:r>
              <a:rPr lang="es-CL" sz="1300" noProof="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cada sucursal y esta descarga el lote y confirma.</a:t>
            </a:r>
            <a:endParaRPr lang="es-CL" sz="1300" noProof="0" dirty="0"/>
          </a:p>
        </p:txBody>
      </p:sp>
      <p:sp>
        <p:nvSpPr>
          <p:cNvPr id="13" name="Text 9"/>
          <p:cNvSpPr/>
          <p:nvPr/>
        </p:nvSpPr>
        <p:spPr>
          <a:xfrm>
            <a:off x="6419850" y="2796542"/>
            <a:ext cx="486613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s-CL" sz="1200" noProof="0" dirty="0">
                <a:solidFill>
                  <a:srgbClr val="1B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Clientes · artículos · precios · descuentos · saldos · facturas pendientes · empleados · cajas · bancos · bodegas · sucursales</a:t>
            </a:r>
            <a:endParaRPr lang="es-CL" sz="1200" noProof="0" dirty="0"/>
          </a:p>
        </p:txBody>
      </p:sp>
      <p:sp>
        <p:nvSpPr>
          <p:cNvPr id="14" name="Shape 10"/>
          <p:cNvSpPr/>
          <p:nvPr/>
        </p:nvSpPr>
        <p:spPr>
          <a:xfrm>
            <a:off x="812800" y="3882392"/>
            <a:ext cx="5194300" cy="767080"/>
          </a:xfrm>
          <a:prstGeom prst="roundRect">
            <a:avLst>
              <a:gd name="adj" fmla="val 13245"/>
            </a:avLst>
          </a:prstGeom>
          <a:solidFill>
            <a:srgbClr val="E3EDF5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5" name="Image 2" descr="Clock"/>
          <p:cNvPicPr>
            <a:picLocks noChangeAspect="1"/>
          </p:cNvPicPr>
          <p:nvPr/>
        </p:nvPicPr>
        <p:blipFill>
          <a:blip r:embed="rId5"/>
          <a:srcRect t="-402" b="-402"/>
          <a:stretch/>
        </p:blipFill>
        <p:spPr>
          <a:xfrm>
            <a:off x="1016000" y="4138929"/>
            <a:ext cx="144886" cy="254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7886" y="4034792"/>
            <a:ext cx="465149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b="1" noProof="0" dirty="0">
                <a:solidFill>
                  <a:srgbClr val="1F2A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Ventana horaria:</a:t>
            </a:r>
            <a:r>
              <a:rPr lang="es-CL" sz="1300" noProof="0" dirty="0">
                <a:solidFill>
                  <a:srgbClr val="1F2A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lunes a viernes 07:00–22:00; sábado 07:00–16:00. Fuera de ella, la tienda no sincroniza.</a:t>
            </a:r>
            <a:endParaRPr lang="es-CL" sz="1300" noProof="0" dirty="0"/>
          </a:p>
        </p:txBody>
      </p:sp>
      <p:sp>
        <p:nvSpPr>
          <p:cNvPr id="17" name="Shape 12"/>
          <p:cNvSpPr/>
          <p:nvPr/>
        </p:nvSpPr>
        <p:spPr>
          <a:xfrm>
            <a:off x="6184900" y="3882392"/>
            <a:ext cx="5194300" cy="767080"/>
          </a:xfrm>
          <a:prstGeom prst="roundRect">
            <a:avLst>
              <a:gd name="adj" fmla="val 13245"/>
            </a:avLst>
          </a:prstGeom>
          <a:solidFill>
            <a:srgbClr val="E3EDF5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8" name="Image 3" descr="Link"/>
          <p:cNvPicPr>
            <a:picLocks noChangeAspect="1"/>
          </p:cNvPicPr>
          <p:nvPr/>
        </p:nvPicPr>
        <p:blipFill>
          <a:blip r:embed="rId6"/>
          <a:srcRect t="-688" b="-688"/>
          <a:stretch/>
        </p:blipFill>
        <p:spPr>
          <a:xfrm>
            <a:off x="6388100" y="4138929"/>
            <a:ext cx="169122" cy="2540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84221" y="4034792"/>
            <a:ext cx="46265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L" sz="1300" b="1" noProof="0" dirty="0">
                <a:solidFill>
                  <a:srgbClr val="1F2A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orden importa:</a:t>
            </a:r>
            <a:r>
              <a:rPr lang="es-CL" sz="1300" noProof="0" dirty="0">
                <a:solidFill>
                  <a:srgbClr val="1F2A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cliente antes que su dirección; venta registrada en AX antes que su pago.</a:t>
            </a:r>
            <a:endParaRPr lang="es-CL" sz="1300" noProof="0" dirty="0"/>
          </a:p>
        </p:txBody>
      </p:sp>
      <p:sp>
        <p:nvSpPr>
          <p:cNvPr id="27" name="Forma libre: forma 26">
            <a:extLst>
              <a:ext uri="{FF2B5EF4-FFF2-40B4-BE49-F238E27FC236}">
                <a16:creationId xmlns:a16="http://schemas.microsoft.com/office/drawing/2014/main" id="{C0A9493F-8122-86FE-13F3-763BA6A40CD6}"/>
              </a:ext>
            </a:extLst>
          </p:cNvPr>
          <p:cNvSpPr/>
          <p:nvPr/>
        </p:nvSpPr>
        <p:spPr>
          <a:xfrm flipH="1">
            <a:off x="10753493" y="6626345"/>
            <a:ext cx="1438507" cy="231655"/>
          </a:xfrm>
          <a:custGeom>
            <a:avLst/>
            <a:gdLst>
              <a:gd name="csX0" fmla="*/ 0 w 2456496"/>
              <a:gd name="csY0" fmla="*/ 93 h 518929"/>
              <a:gd name="csX1" fmla="*/ 2278421 w 2456496"/>
              <a:gd name="csY1" fmla="*/ 93 h 518929"/>
              <a:gd name="csX2" fmla="*/ 2456497 w 2456496"/>
              <a:gd name="csY2" fmla="*/ 178170 h 518929"/>
              <a:gd name="csX3" fmla="*/ 2456497 w 2456496"/>
              <a:gd name="csY3" fmla="*/ 518930 h 518929"/>
              <a:gd name="csX4" fmla="*/ 0 w 2456496"/>
              <a:gd name="csY4" fmla="*/ 518930 h 518929"/>
              <a:gd name="csX5" fmla="*/ 0 w 2456496"/>
              <a:gd name="csY5" fmla="*/ 0 h 518929"/>
              <a:gd name="csX6" fmla="*/ 0 w 2456496"/>
              <a:gd name="csY6" fmla="*/ 0 h 5189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56496" h="518929">
                <a:moveTo>
                  <a:pt x="0" y="93"/>
                </a:moveTo>
                <a:lnTo>
                  <a:pt x="2278421" y="93"/>
                </a:lnTo>
                <a:cubicBezTo>
                  <a:pt x="2376740" y="93"/>
                  <a:pt x="2456497" y="79943"/>
                  <a:pt x="2456497" y="178170"/>
                </a:cubicBezTo>
                <a:lnTo>
                  <a:pt x="2456497" y="518930"/>
                </a:lnTo>
                <a:lnTo>
                  <a:pt x="0" y="51893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9581"/>
          </a:solidFill>
          <a:ln w="9328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8" name="Imagen 27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A5BED009-29C5-6AA0-5F81-5958D129B9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131" y="6161339"/>
            <a:ext cx="1096557" cy="801914"/>
          </a:xfrm>
          <a:prstGeom prst="rect">
            <a:avLst/>
          </a:prstGeom>
        </p:spPr>
      </p:pic>
      <p:grpSp>
        <p:nvGrpSpPr>
          <p:cNvPr id="29" name="Grupo 28">
            <a:extLst>
              <a:ext uri="{FF2B5EF4-FFF2-40B4-BE49-F238E27FC236}">
                <a16:creationId xmlns:a16="http://schemas.microsoft.com/office/drawing/2014/main" id="{C7B3CD29-9BA9-AC4E-9592-44D9617D8DE6}"/>
              </a:ext>
            </a:extLst>
          </p:cNvPr>
          <p:cNvGrpSpPr/>
          <p:nvPr/>
        </p:nvGrpSpPr>
        <p:grpSpPr>
          <a:xfrm>
            <a:off x="448370" y="6522174"/>
            <a:ext cx="3712788" cy="261610"/>
            <a:chOff x="448370" y="6513296"/>
            <a:chExt cx="3712788" cy="261610"/>
          </a:xfrm>
        </p:grpSpPr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0F79C856-4CF4-E27D-D881-DD531AC01474}"/>
                </a:ext>
              </a:extLst>
            </p:cNvPr>
            <p:cNvGrpSpPr/>
            <p:nvPr userDrawn="1"/>
          </p:nvGrpSpPr>
          <p:grpSpPr>
            <a:xfrm>
              <a:off x="448370" y="6513296"/>
              <a:ext cx="2978937" cy="261610"/>
              <a:chOff x="9047344" y="6512423"/>
              <a:chExt cx="3340699" cy="261610"/>
            </a:xfrm>
          </p:grpSpPr>
          <p:sp>
            <p:nvSpPr>
              <p:cNvPr id="35" name="Forma libre: forma 34">
                <a:extLst>
                  <a:ext uri="{FF2B5EF4-FFF2-40B4-BE49-F238E27FC236}">
                    <a16:creationId xmlns:a16="http://schemas.microsoft.com/office/drawing/2014/main" id="{F4C1E66F-1F21-F8BB-3D2A-FDE9F65379EA}"/>
                  </a:ext>
                </a:extLst>
              </p:cNvPr>
              <p:cNvSpPr/>
              <p:nvPr userDrawn="1"/>
            </p:nvSpPr>
            <p:spPr>
              <a:xfrm>
                <a:off x="9107601" y="6534430"/>
                <a:ext cx="2964589" cy="210603"/>
              </a:xfrm>
              <a:custGeom>
                <a:avLst/>
                <a:gdLst>
                  <a:gd name="csX0" fmla="*/ 2407524 w 2585599"/>
                  <a:gd name="csY0" fmla="*/ 0 h 518836"/>
                  <a:gd name="csX1" fmla="*/ 0 w 2585599"/>
                  <a:gd name="csY1" fmla="*/ 0 h 518836"/>
                  <a:gd name="csX2" fmla="*/ 0 w 2585599"/>
                  <a:gd name="csY2" fmla="*/ 340761 h 518836"/>
                  <a:gd name="csX3" fmla="*/ 178076 w 2585599"/>
                  <a:gd name="csY3" fmla="*/ 518836 h 518836"/>
                  <a:gd name="csX4" fmla="*/ 2585600 w 2585599"/>
                  <a:gd name="csY4" fmla="*/ 518836 h 518836"/>
                  <a:gd name="csX5" fmla="*/ 2585600 w 2585599"/>
                  <a:gd name="csY5" fmla="*/ 178076 h 518836"/>
                  <a:gd name="csX6" fmla="*/ 2407524 w 2585599"/>
                  <a:gd name="csY6" fmla="*/ 0 h 5188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585599" h="518836">
                    <a:moveTo>
                      <a:pt x="2407524" y="0"/>
                    </a:moveTo>
                    <a:lnTo>
                      <a:pt x="0" y="0"/>
                    </a:lnTo>
                    <a:lnTo>
                      <a:pt x="0" y="340761"/>
                    </a:lnTo>
                    <a:cubicBezTo>
                      <a:pt x="0" y="439080"/>
                      <a:pt x="79756" y="518836"/>
                      <a:pt x="178076" y="518836"/>
                    </a:cubicBezTo>
                    <a:lnTo>
                      <a:pt x="2585600" y="518836"/>
                    </a:lnTo>
                    <a:lnTo>
                      <a:pt x="2585600" y="178076"/>
                    </a:lnTo>
                    <a:cubicBezTo>
                      <a:pt x="2585600" y="79756"/>
                      <a:pt x="2505843" y="0"/>
                      <a:pt x="2407524" y="0"/>
                    </a:cubicBezTo>
                    <a:close/>
                  </a:path>
                </a:pathLst>
              </a:custGeom>
              <a:solidFill>
                <a:srgbClr val="046EB6"/>
              </a:solidFill>
              <a:ln w="9328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6EB6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6805CA07-B353-3469-9123-2096B0C08537}"/>
                  </a:ext>
                </a:extLst>
              </p:cNvPr>
              <p:cNvSpPr txBox="1"/>
              <p:nvPr userDrawn="1"/>
            </p:nvSpPr>
            <p:spPr>
              <a:xfrm>
                <a:off x="9047344" y="6512423"/>
                <a:ext cx="334069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L" sz="1050" b="1" i="1" u="none" strike="noStrike" kern="1200" cap="none" spc="0" normalizeH="0" baseline="0" noProof="0" dirty="0">
                    <a:ln/>
                    <a:solidFill>
                      <a:srgbClr val="FFFFFF"/>
                    </a:solidFill>
                    <a:effectLst/>
                    <a:uLnTx/>
                    <a:uFillTx/>
                    <a:latin typeface="Acumin Variable Concept"/>
                    <a:ea typeface="+mn-ea"/>
                    <a:cs typeface="+mn-cs"/>
                    <a:sym typeface="Acumin Variable Concept"/>
                    <a:rtl val="0"/>
                  </a:rPr>
                  <a:t>EL SUPERMERCADO DEL TRANSPORTE</a:t>
                </a:r>
              </a:p>
            </p:txBody>
          </p:sp>
        </p:grpSp>
        <p:grpSp>
          <p:nvGrpSpPr>
            <p:cNvPr id="31" name="Gráfico 4">
              <a:extLst>
                <a:ext uri="{FF2B5EF4-FFF2-40B4-BE49-F238E27FC236}">
                  <a16:creationId xmlns:a16="http://schemas.microsoft.com/office/drawing/2014/main" id="{C2661694-E30F-CCA6-919B-9DBA979A13C5}"/>
                </a:ext>
              </a:extLst>
            </p:cNvPr>
            <p:cNvGrpSpPr/>
            <p:nvPr userDrawn="1"/>
          </p:nvGrpSpPr>
          <p:grpSpPr>
            <a:xfrm>
              <a:off x="3427306" y="6567844"/>
              <a:ext cx="733852" cy="145520"/>
              <a:chOff x="2672165" y="6438007"/>
              <a:chExt cx="733852" cy="145520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278B85BE-B941-254F-053D-EAE2D6B29E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72165" y="6438007"/>
                <a:ext cx="215855" cy="145520"/>
              </a:xfrm>
              <a:custGeom>
                <a:avLst/>
                <a:gdLst>
                  <a:gd name="csX0" fmla="*/ 209 w 215855"/>
                  <a:gd name="csY0" fmla="*/ 638 h 145520"/>
                  <a:gd name="csX1" fmla="*/ 216064 w 215855"/>
                  <a:gd name="csY1" fmla="*/ 638 h 145520"/>
                  <a:gd name="csX2" fmla="*/ 216064 w 215855"/>
                  <a:gd name="csY2" fmla="*/ 146158 h 145520"/>
                  <a:gd name="csX3" fmla="*/ 209 w 215855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5855" h="145520">
                    <a:moveTo>
                      <a:pt x="209" y="638"/>
                    </a:moveTo>
                    <a:lnTo>
                      <a:pt x="216064" y="638"/>
                    </a:lnTo>
                    <a:lnTo>
                      <a:pt x="216064" y="146158"/>
                    </a:lnTo>
                    <a:lnTo>
                      <a:pt x="209" y="146158"/>
                    </a:lnTo>
                    <a:close/>
                  </a:path>
                </a:pathLst>
              </a:custGeom>
            </p:spPr>
          </p:pic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3974AD65-9009-D6DE-E400-FA9B84D6C4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34755" y="6438007"/>
                <a:ext cx="214642" cy="145520"/>
              </a:xfrm>
              <a:custGeom>
                <a:avLst/>
                <a:gdLst>
                  <a:gd name="csX0" fmla="*/ 238 w 214642"/>
                  <a:gd name="csY0" fmla="*/ 638 h 145520"/>
                  <a:gd name="csX1" fmla="*/ 214880 w 214642"/>
                  <a:gd name="csY1" fmla="*/ 638 h 145520"/>
                  <a:gd name="csX2" fmla="*/ 214880 w 214642"/>
                  <a:gd name="csY2" fmla="*/ 146158 h 145520"/>
                  <a:gd name="csX3" fmla="*/ 238 w 214642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4642" h="145520">
                    <a:moveTo>
                      <a:pt x="238" y="638"/>
                    </a:moveTo>
                    <a:lnTo>
                      <a:pt x="214880" y="638"/>
                    </a:lnTo>
                    <a:lnTo>
                      <a:pt x="214880" y="146158"/>
                    </a:lnTo>
                    <a:lnTo>
                      <a:pt x="238" y="146158"/>
                    </a:lnTo>
                    <a:close/>
                  </a:path>
                </a:pathLst>
              </a:custGeom>
            </p:spPr>
          </p:pic>
          <p:pic>
            <p:nvPicPr>
              <p:cNvPr id="34" name="Imagen 33">
                <a:extLst>
                  <a:ext uri="{FF2B5EF4-FFF2-40B4-BE49-F238E27FC236}">
                    <a16:creationId xmlns:a16="http://schemas.microsoft.com/office/drawing/2014/main" id="{CCA40E76-585D-D294-F312-EC70F82366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96225" y="6438007"/>
                <a:ext cx="209791" cy="145520"/>
              </a:xfrm>
              <a:custGeom>
                <a:avLst/>
                <a:gdLst>
                  <a:gd name="csX0" fmla="*/ 267 w 209791"/>
                  <a:gd name="csY0" fmla="*/ 638 h 145520"/>
                  <a:gd name="csX1" fmla="*/ 210059 w 209791"/>
                  <a:gd name="csY1" fmla="*/ 638 h 145520"/>
                  <a:gd name="csX2" fmla="*/ 210059 w 209791"/>
                  <a:gd name="csY2" fmla="*/ 146158 h 145520"/>
                  <a:gd name="csX3" fmla="*/ 267 w 209791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09791" h="145520">
                    <a:moveTo>
                      <a:pt x="267" y="638"/>
                    </a:moveTo>
                    <a:lnTo>
                      <a:pt x="210059" y="638"/>
                    </a:lnTo>
                    <a:lnTo>
                      <a:pt x="210059" y="146158"/>
                    </a:lnTo>
                    <a:lnTo>
                      <a:pt x="267" y="146158"/>
                    </a:lnTo>
                    <a:close/>
                  </a:path>
                </a:pathLst>
              </a:custGeom>
            </p:spPr>
          </p:pic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b="1" kern="0" spc="150" noProof="0" dirty="0">
                <a:solidFill>
                  <a:srgbClr val="127A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· DEPENDENCIAS CON OTROS SISTEMAS</a:t>
            </a:r>
            <a:endParaRPr lang="es-CL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9880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s-CL" sz="3200" b="1" noProof="0" dirty="0">
                <a:solidFill>
                  <a:srgbClr val="1F2A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Qué pasa en la tienda si falla cada pieza</a:t>
            </a:r>
            <a:endParaRPr lang="es-CL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812800" y="1638300"/>
            <a:ext cx="10566400" cy="3613150"/>
          </a:xfrm>
          <a:prstGeom prst="roundRect">
            <a:avLst>
              <a:gd name="adj" fmla="val 2109"/>
            </a:avLst>
          </a:prstGeom>
          <a:solidFill>
            <a:srgbClr val="FCFDF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812800" y="1638300"/>
            <a:ext cx="10566400" cy="3613150"/>
          </a:xfrm>
          <a:custGeom>
            <a:avLst/>
            <a:gdLst/>
            <a:ahLst/>
            <a:cxnLst/>
            <a:rect l="l" t="t" r="r" b="b"/>
            <a:pathLst>
              <a:path w="10566400" h="3613150">
                <a:moveTo>
                  <a:pt x="10490200" y="0"/>
                </a:moveTo>
                <a:lnTo>
                  <a:pt x="10490200" y="0"/>
                </a:lnTo>
                <a:arcTo wR="76200" hR="76200" stAng="16200000" swAng="5400000"/>
                <a:lnTo>
                  <a:pt x="10566400" y="3536950"/>
                </a:lnTo>
                <a:arcTo wR="76200" hR="76200" stAng="0" swAng="5400000"/>
                <a:lnTo>
                  <a:pt x="76200" y="3613150"/>
                </a:lnTo>
                <a:arcTo wR="76200" hR="76200" stAng="5400000" swAng="5400000"/>
                <a:lnTo>
                  <a:pt x="0" y="3536950"/>
                </a:lnTo>
                <a:arcTo wR="76200" hR="69850" stAng="10800000" swAng="-5400000"/>
                <a:lnTo>
                  <a:pt x="10490200" y="3606800"/>
                </a:lnTo>
                <a:arcTo wR="69850" hR="69850" stAng="5400000" swAng="-5400000"/>
                <a:lnTo>
                  <a:pt x="10560050" y="76200"/>
                </a:lnTo>
                <a:arcTo wR="69850" hR="76200" stAng="0" swAng="-5400000"/>
                <a:close/>
              </a:path>
            </a:pathLst>
          </a:custGeom>
          <a:solidFill>
            <a:srgbClr val="DCE3E9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812800" y="1638300"/>
            <a:ext cx="10566400" cy="3613150"/>
          </a:xfrm>
          <a:custGeom>
            <a:avLst/>
            <a:gdLst/>
            <a:ahLst/>
            <a:cxnLst/>
            <a:rect l="l" t="t" r="r" b="b"/>
            <a:pathLst>
              <a:path w="10566400" h="3613150">
                <a:moveTo>
                  <a:pt x="76200" y="3613150"/>
                </a:moveTo>
                <a:lnTo>
                  <a:pt x="76200" y="361315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10490200" y="0"/>
                </a:lnTo>
                <a:arcTo wR="76200" hR="76200" stAng="16200000" swAng="5400000"/>
                <a:lnTo>
                  <a:pt x="10566400" y="76200"/>
                </a:lnTo>
                <a:arcTo wR="76200" hR="63500" stAng="0" swAng="-5400000"/>
                <a:lnTo>
                  <a:pt x="76200" y="12700"/>
                </a:lnTo>
                <a:arcTo wR="63500" hR="63500" stAng="16200000" swAng="-5400000"/>
                <a:lnTo>
                  <a:pt x="12700" y="3536950"/>
                </a:lnTo>
                <a:arcTo wR="63500" hR="762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  <p:txBody>
          <a:bodyPr/>
          <a:lstStyle/>
          <a:p>
            <a:endParaRPr lang="es-CL" noProof="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86471"/>
              </p:ext>
            </p:extLst>
          </p:nvPr>
        </p:nvGraphicFramePr>
        <p:xfrm>
          <a:off x="825500" y="1651000"/>
          <a:ext cx="10547350" cy="3594100"/>
        </p:xfrm>
        <a:graphic>
          <a:graphicData uri="http://schemas.openxmlformats.org/drawingml/2006/table">
            <a:tbl>
              <a:tblPr/>
              <a:tblGrid>
                <a:gridCol w="3164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23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5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5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4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b="1" noProof="0" dirty="0">
                          <a:solidFill>
                            <a:srgbClr val="F4F6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Sistema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b="1" noProof="0" dirty="0">
                          <a:solidFill>
                            <a:srgbClr val="F4F6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Para qué se usa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b="1" noProof="0" dirty="0">
                          <a:solidFill>
                            <a:srgbClr val="F4F6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 falla…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b="1" noProof="0" dirty="0">
                          <a:solidFill>
                            <a:srgbClr val="F4F6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Impacto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 de datos de la sucursal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Toda la operación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se puede operar ni sincronizar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B326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Alto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API de consulta de precios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9B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Precio de los productos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9B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se puede continuar ni finalizar la venta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9B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B326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Alto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9B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Facturador (Acepta / </a:t>
                      </a:r>
                      <a:r>
                        <a:rPr lang="es-CL" sz="13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Ingydev</a:t>
                      </a: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)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Emisión del DTE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Venta guardada sin DTE emitido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B326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Alto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Dynamics AX y sus </a:t>
                      </a:r>
                      <a:r>
                        <a:rPr lang="es-CL" sz="13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APIs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Consultas y registro contable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Fallan consultas; el registro se difiere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A653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Medio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Broker de mensajería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Avisos y respuestas de AX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 retrasan avisos y respuestas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A653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Medio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API de lectura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Descarga de maestros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Llega el aviso, pero no los datos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A653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Medio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Transbank (agente y terminal)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Pago con tarjeta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Solo cae la tarjeta; otros medios siguen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A653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Medio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ORSAN / </a:t>
                      </a:r>
                      <a:r>
                        <a:rPr lang="es-CL" sz="1300" noProof="0" dirty="0" err="1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Instacheck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Cheques y crédito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se validan cheques ni crédito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A653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Medio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MongoDB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Estado de notas de crédito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F2A3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Falla la consulta de estado de NC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s-CL" sz="1300" noProof="0" dirty="0">
                          <a:solidFill>
                            <a:srgbClr val="127A6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Bajo</a:t>
                      </a:r>
                      <a:endParaRPr lang="es-CL" sz="1300" noProof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545465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noProof="0" dirty="0">
                <a:solidFill>
                  <a:srgbClr val="5B67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Impacto: evaluación preliminar para discutir.</a:t>
            </a:r>
            <a:endParaRPr lang="es-CL" sz="1200" noProof="0" dirty="0"/>
          </a:p>
        </p:txBody>
      </p: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FFF2B5C5-FE80-0C4C-4B96-910ABDAF52F4}"/>
              </a:ext>
            </a:extLst>
          </p:cNvPr>
          <p:cNvSpPr/>
          <p:nvPr/>
        </p:nvSpPr>
        <p:spPr>
          <a:xfrm flipH="1">
            <a:off x="10753493" y="6626345"/>
            <a:ext cx="1438507" cy="231655"/>
          </a:xfrm>
          <a:custGeom>
            <a:avLst/>
            <a:gdLst>
              <a:gd name="csX0" fmla="*/ 0 w 2456496"/>
              <a:gd name="csY0" fmla="*/ 93 h 518929"/>
              <a:gd name="csX1" fmla="*/ 2278421 w 2456496"/>
              <a:gd name="csY1" fmla="*/ 93 h 518929"/>
              <a:gd name="csX2" fmla="*/ 2456497 w 2456496"/>
              <a:gd name="csY2" fmla="*/ 178170 h 518929"/>
              <a:gd name="csX3" fmla="*/ 2456497 w 2456496"/>
              <a:gd name="csY3" fmla="*/ 518930 h 518929"/>
              <a:gd name="csX4" fmla="*/ 0 w 2456496"/>
              <a:gd name="csY4" fmla="*/ 518930 h 518929"/>
              <a:gd name="csX5" fmla="*/ 0 w 2456496"/>
              <a:gd name="csY5" fmla="*/ 0 h 518929"/>
              <a:gd name="csX6" fmla="*/ 0 w 2456496"/>
              <a:gd name="csY6" fmla="*/ 0 h 5189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56496" h="518929">
                <a:moveTo>
                  <a:pt x="0" y="93"/>
                </a:moveTo>
                <a:lnTo>
                  <a:pt x="2278421" y="93"/>
                </a:lnTo>
                <a:cubicBezTo>
                  <a:pt x="2376740" y="93"/>
                  <a:pt x="2456497" y="79943"/>
                  <a:pt x="2456497" y="178170"/>
                </a:cubicBezTo>
                <a:lnTo>
                  <a:pt x="2456497" y="518930"/>
                </a:lnTo>
                <a:lnTo>
                  <a:pt x="0" y="51893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9581"/>
          </a:solidFill>
          <a:ln w="9328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7" name="Imagen 16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3477AD24-F7BB-85AE-922E-4652B7C322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131" y="6161339"/>
            <a:ext cx="1096557" cy="801914"/>
          </a:xfrm>
          <a:prstGeom prst="rect">
            <a:avLst/>
          </a:prstGeom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DFECDBCC-838C-5FCB-A8F6-FD6F6D02D512}"/>
              </a:ext>
            </a:extLst>
          </p:cNvPr>
          <p:cNvGrpSpPr/>
          <p:nvPr/>
        </p:nvGrpSpPr>
        <p:grpSpPr>
          <a:xfrm>
            <a:off x="448370" y="6522174"/>
            <a:ext cx="3712788" cy="261610"/>
            <a:chOff x="448370" y="6513296"/>
            <a:chExt cx="3712788" cy="261610"/>
          </a:xfrm>
        </p:grpSpPr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BF9D557F-5906-8789-1EBA-2C5EB1753000}"/>
                </a:ext>
              </a:extLst>
            </p:cNvPr>
            <p:cNvGrpSpPr/>
            <p:nvPr userDrawn="1"/>
          </p:nvGrpSpPr>
          <p:grpSpPr>
            <a:xfrm>
              <a:off x="448370" y="6513296"/>
              <a:ext cx="2978937" cy="261610"/>
              <a:chOff x="9047344" y="6512423"/>
              <a:chExt cx="3340699" cy="261610"/>
            </a:xfrm>
          </p:grpSpPr>
          <p:sp>
            <p:nvSpPr>
              <p:cNvPr id="24" name="Forma libre: forma 23">
                <a:extLst>
                  <a:ext uri="{FF2B5EF4-FFF2-40B4-BE49-F238E27FC236}">
                    <a16:creationId xmlns:a16="http://schemas.microsoft.com/office/drawing/2014/main" id="{808C283A-BE65-5C32-A4CE-3B3D7A51C130}"/>
                  </a:ext>
                </a:extLst>
              </p:cNvPr>
              <p:cNvSpPr/>
              <p:nvPr userDrawn="1"/>
            </p:nvSpPr>
            <p:spPr>
              <a:xfrm>
                <a:off x="9107601" y="6534430"/>
                <a:ext cx="2964589" cy="210603"/>
              </a:xfrm>
              <a:custGeom>
                <a:avLst/>
                <a:gdLst>
                  <a:gd name="csX0" fmla="*/ 2407524 w 2585599"/>
                  <a:gd name="csY0" fmla="*/ 0 h 518836"/>
                  <a:gd name="csX1" fmla="*/ 0 w 2585599"/>
                  <a:gd name="csY1" fmla="*/ 0 h 518836"/>
                  <a:gd name="csX2" fmla="*/ 0 w 2585599"/>
                  <a:gd name="csY2" fmla="*/ 340761 h 518836"/>
                  <a:gd name="csX3" fmla="*/ 178076 w 2585599"/>
                  <a:gd name="csY3" fmla="*/ 518836 h 518836"/>
                  <a:gd name="csX4" fmla="*/ 2585600 w 2585599"/>
                  <a:gd name="csY4" fmla="*/ 518836 h 518836"/>
                  <a:gd name="csX5" fmla="*/ 2585600 w 2585599"/>
                  <a:gd name="csY5" fmla="*/ 178076 h 518836"/>
                  <a:gd name="csX6" fmla="*/ 2407524 w 2585599"/>
                  <a:gd name="csY6" fmla="*/ 0 h 5188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585599" h="518836">
                    <a:moveTo>
                      <a:pt x="2407524" y="0"/>
                    </a:moveTo>
                    <a:lnTo>
                      <a:pt x="0" y="0"/>
                    </a:lnTo>
                    <a:lnTo>
                      <a:pt x="0" y="340761"/>
                    </a:lnTo>
                    <a:cubicBezTo>
                      <a:pt x="0" y="439080"/>
                      <a:pt x="79756" y="518836"/>
                      <a:pt x="178076" y="518836"/>
                    </a:cubicBezTo>
                    <a:lnTo>
                      <a:pt x="2585600" y="518836"/>
                    </a:lnTo>
                    <a:lnTo>
                      <a:pt x="2585600" y="178076"/>
                    </a:lnTo>
                    <a:cubicBezTo>
                      <a:pt x="2585600" y="79756"/>
                      <a:pt x="2505843" y="0"/>
                      <a:pt x="2407524" y="0"/>
                    </a:cubicBezTo>
                    <a:close/>
                  </a:path>
                </a:pathLst>
              </a:custGeom>
              <a:solidFill>
                <a:srgbClr val="046EB6"/>
              </a:solidFill>
              <a:ln w="9328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6EB6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B6DCB1D7-533B-5ACA-898E-DB00563ED9A3}"/>
                  </a:ext>
                </a:extLst>
              </p:cNvPr>
              <p:cNvSpPr txBox="1"/>
              <p:nvPr userDrawn="1"/>
            </p:nvSpPr>
            <p:spPr>
              <a:xfrm>
                <a:off x="9047344" y="6512423"/>
                <a:ext cx="334069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L" sz="1050" b="1" i="1" u="none" strike="noStrike" kern="1200" cap="none" spc="0" normalizeH="0" baseline="0" noProof="0" dirty="0">
                    <a:ln/>
                    <a:solidFill>
                      <a:srgbClr val="FFFFFF"/>
                    </a:solidFill>
                    <a:effectLst/>
                    <a:uLnTx/>
                    <a:uFillTx/>
                    <a:latin typeface="Acumin Variable Concept"/>
                    <a:ea typeface="+mn-ea"/>
                    <a:cs typeface="+mn-cs"/>
                    <a:sym typeface="Acumin Variable Concept"/>
                    <a:rtl val="0"/>
                  </a:rPr>
                  <a:t>EL SUPERMERCADO DEL TRANSPORTE</a:t>
                </a:r>
              </a:p>
            </p:txBody>
          </p:sp>
        </p:grpSp>
        <p:grpSp>
          <p:nvGrpSpPr>
            <p:cNvPr id="20" name="Gráfico 4">
              <a:extLst>
                <a:ext uri="{FF2B5EF4-FFF2-40B4-BE49-F238E27FC236}">
                  <a16:creationId xmlns:a16="http://schemas.microsoft.com/office/drawing/2014/main" id="{272D7960-7FCA-811A-0809-42A38AB41AED}"/>
                </a:ext>
              </a:extLst>
            </p:cNvPr>
            <p:cNvGrpSpPr/>
            <p:nvPr userDrawn="1"/>
          </p:nvGrpSpPr>
          <p:grpSpPr>
            <a:xfrm>
              <a:off x="3427306" y="6567844"/>
              <a:ext cx="733852" cy="145520"/>
              <a:chOff x="2672165" y="6438007"/>
              <a:chExt cx="733852" cy="145520"/>
            </a:xfrm>
          </p:grpSpPr>
          <p:pic>
            <p:nvPicPr>
              <p:cNvPr id="21" name="Imagen 20">
                <a:extLst>
                  <a:ext uri="{FF2B5EF4-FFF2-40B4-BE49-F238E27FC236}">
                    <a16:creationId xmlns:a16="http://schemas.microsoft.com/office/drawing/2014/main" id="{44C729E3-F188-3E13-4AB3-2E0EBA6224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72165" y="6438007"/>
                <a:ext cx="215855" cy="145520"/>
              </a:xfrm>
              <a:custGeom>
                <a:avLst/>
                <a:gdLst>
                  <a:gd name="csX0" fmla="*/ 209 w 215855"/>
                  <a:gd name="csY0" fmla="*/ 638 h 145520"/>
                  <a:gd name="csX1" fmla="*/ 216064 w 215855"/>
                  <a:gd name="csY1" fmla="*/ 638 h 145520"/>
                  <a:gd name="csX2" fmla="*/ 216064 w 215855"/>
                  <a:gd name="csY2" fmla="*/ 146158 h 145520"/>
                  <a:gd name="csX3" fmla="*/ 209 w 215855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5855" h="145520">
                    <a:moveTo>
                      <a:pt x="209" y="638"/>
                    </a:moveTo>
                    <a:lnTo>
                      <a:pt x="216064" y="638"/>
                    </a:lnTo>
                    <a:lnTo>
                      <a:pt x="216064" y="146158"/>
                    </a:lnTo>
                    <a:lnTo>
                      <a:pt x="209" y="146158"/>
                    </a:lnTo>
                    <a:close/>
                  </a:path>
                </a:pathLst>
              </a:custGeom>
            </p:spPr>
          </p:pic>
          <p:pic>
            <p:nvPicPr>
              <p:cNvPr id="22" name="Imagen 21">
                <a:extLst>
                  <a:ext uri="{FF2B5EF4-FFF2-40B4-BE49-F238E27FC236}">
                    <a16:creationId xmlns:a16="http://schemas.microsoft.com/office/drawing/2014/main" id="{71410C5A-3070-04AA-BF5A-CA6E8113C0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34755" y="6438007"/>
                <a:ext cx="214642" cy="145520"/>
              </a:xfrm>
              <a:custGeom>
                <a:avLst/>
                <a:gdLst>
                  <a:gd name="csX0" fmla="*/ 238 w 214642"/>
                  <a:gd name="csY0" fmla="*/ 638 h 145520"/>
                  <a:gd name="csX1" fmla="*/ 214880 w 214642"/>
                  <a:gd name="csY1" fmla="*/ 638 h 145520"/>
                  <a:gd name="csX2" fmla="*/ 214880 w 214642"/>
                  <a:gd name="csY2" fmla="*/ 146158 h 145520"/>
                  <a:gd name="csX3" fmla="*/ 238 w 214642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4642" h="145520">
                    <a:moveTo>
                      <a:pt x="238" y="638"/>
                    </a:moveTo>
                    <a:lnTo>
                      <a:pt x="214880" y="638"/>
                    </a:lnTo>
                    <a:lnTo>
                      <a:pt x="214880" y="146158"/>
                    </a:lnTo>
                    <a:lnTo>
                      <a:pt x="238" y="146158"/>
                    </a:lnTo>
                    <a:close/>
                  </a:path>
                </a:pathLst>
              </a:custGeom>
            </p:spPr>
          </p:pic>
          <p:pic>
            <p:nvPicPr>
              <p:cNvPr id="23" name="Imagen 22">
                <a:extLst>
                  <a:ext uri="{FF2B5EF4-FFF2-40B4-BE49-F238E27FC236}">
                    <a16:creationId xmlns:a16="http://schemas.microsoft.com/office/drawing/2014/main" id="{132CF69E-2CF1-4355-63A7-5B8F83605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96225" y="6438007"/>
                <a:ext cx="209791" cy="145520"/>
              </a:xfrm>
              <a:custGeom>
                <a:avLst/>
                <a:gdLst>
                  <a:gd name="csX0" fmla="*/ 267 w 209791"/>
                  <a:gd name="csY0" fmla="*/ 638 h 145520"/>
                  <a:gd name="csX1" fmla="*/ 210059 w 209791"/>
                  <a:gd name="csY1" fmla="*/ 638 h 145520"/>
                  <a:gd name="csX2" fmla="*/ 210059 w 209791"/>
                  <a:gd name="csY2" fmla="*/ 146158 h 145520"/>
                  <a:gd name="csX3" fmla="*/ 267 w 209791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09791" h="145520">
                    <a:moveTo>
                      <a:pt x="267" y="638"/>
                    </a:moveTo>
                    <a:lnTo>
                      <a:pt x="210059" y="638"/>
                    </a:lnTo>
                    <a:lnTo>
                      <a:pt x="210059" y="146158"/>
                    </a:lnTo>
                    <a:lnTo>
                      <a:pt x="267" y="146158"/>
                    </a:lnTo>
                    <a:close/>
                  </a:path>
                </a:pathLst>
              </a:custGeom>
            </p:spPr>
          </p:pic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L" sz="1200" b="1" kern="0" spc="150" noProof="0" dirty="0">
                <a:solidFill>
                  <a:srgbClr val="F0A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PUNTOS DE ATENCIÓN</a:t>
            </a:r>
            <a:endParaRPr lang="es-CL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812800" y="9880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s-CL" sz="3200" b="1" noProof="0" dirty="0">
                <a:solidFill>
                  <a:srgbClr val="F4F6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Cuatro frentes a considerar</a:t>
            </a:r>
            <a:endParaRPr lang="es-CL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812800" y="1689100"/>
            <a:ext cx="5207000" cy="1169670"/>
          </a:xfrm>
          <a:prstGeom prst="roundRect">
            <a:avLst>
              <a:gd name="adj" fmla="val 7600"/>
            </a:avLst>
          </a:prstGeom>
          <a:solidFill>
            <a:srgbClr val="1F2E3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812800" y="1689100"/>
            <a:ext cx="5207000" cy="1169670"/>
          </a:xfrm>
          <a:custGeom>
            <a:avLst/>
            <a:gdLst/>
            <a:ahLst/>
            <a:cxnLst/>
            <a:rect l="l" t="t" r="r" b="b"/>
            <a:pathLst>
              <a:path w="5207000" h="1169670">
                <a:moveTo>
                  <a:pt x="88900" y="1169670"/>
                </a:moveTo>
                <a:lnTo>
                  <a:pt x="88900" y="1169670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lnTo>
                  <a:pt x="88900" y="0"/>
                </a:lnTo>
                <a:arcTo wR="50800" hR="88900" stAng="16200000" swAng="-5400000"/>
                <a:lnTo>
                  <a:pt x="38100" y="1080770"/>
                </a:lnTo>
                <a:arcTo wR="50800" hR="88900" stAng="10800000" swAng="-5400000"/>
                <a:close/>
              </a:path>
            </a:pathLst>
          </a:custGeom>
          <a:solidFill>
            <a:srgbClr val="F0A868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6" name="Image 0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9500" y="1869442"/>
            <a:ext cx="254000" cy="25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100" y="1866900"/>
            <a:ext cx="212729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s-CL" sz="1700" b="1" noProof="0" dirty="0">
                <a:solidFill>
                  <a:srgbClr val="F4F6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Integridad de datos</a:t>
            </a:r>
            <a:endParaRPr lang="es-CL" sz="1700" noProof="0" dirty="0"/>
          </a:p>
        </p:txBody>
      </p:sp>
      <p:sp>
        <p:nvSpPr>
          <p:cNvPr id="8" name="Text 5"/>
          <p:cNvSpPr/>
          <p:nvPr/>
        </p:nvSpPr>
        <p:spPr>
          <a:xfrm>
            <a:off x="1079500" y="2202179"/>
            <a:ext cx="4853051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s-CL" sz="1300" noProof="0" dirty="0">
                <a:solidFill>
                  <a:srgbClr val="C9D6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entrega garantizada de mensajes no está activada: ante ciertas fallas, un mensaje podría perderse o mezclarse.</a:t>
            </a:r>
            <a:endParaRPr lang="es-CL" sz="1300" noProof="0" dirty="0"/>
          </a:p>
        </p:txBody>
      </p:sp>
      <p:sp>
        <p:nvSpPr>
          <p:cNvPr id="9" name="Shape 6"/>
          <p:cNvSpPr/>
          <p:nvPr/>
        </p:nvSpPr>
        <p:spPr>
          <a:xfrm>
            <a:off x="6172200" y="1689100"/>
            <a:ext cx="5207000" cy="1169670"/>
          </a:xfrm>
          <a:prstGeom prst="roundRect">
            <a:avLst>
              <a:gd name="adj" fmla="val 7600"/>
            </a:avLst>
          </a:prstGeom>
          <a:solidFill>
            <a:srgbClr val="1F2E3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7"/>
          <p:cNvSpPr/>
          <p:nvPr/>
        </p:nvSpPr>
        <p:spPr>
          <a:xfrm>
            <a:off x="6172200" y="1689100"/>
            <a:ext cx="5207000" cy="1169670"/>
          </a:xfrm>
          <a:custGeom>
            <a:avLst/>
            <a:gdLst/>
            <a:ahLst/>
            <a:cxnLst/>
            <a:rect l="l" t="t" r="r" b="b"/>
            <a:pathLst>
              <a:path w="5207000" h="1169670">
                <a:moveTo>
                  <a:pt x="88900" y="1169670"/>
                </a:moveTo>
                <a:lnTo>
                  <a:pt x="88900" y="1169670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lnTo>
                  <a:pt x="88900" y="0"/>
                </a:lnTo>
                <a:arcTo wR="50800" hR="88900" stAng="16200000" swAng="-5400000"/>
                <a:lnTo>
                  <a:pt x="38100" y="1080770"/>
                </a:lnTo>
                <a:arcTo wR="50800" hR="88900" stAng="10800000" swAng="-5400000"/>
                <a:close/>
              </a:path>
            </a:pathLst>
          </a:custGeom>
          <a:solidFill>
            <a:srgbClr val="F0A868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1" name="Image 1" descr="Lo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38900" y="1869442"/>
            <a:ext cx="254000" cy="254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94500" y="1866900"/>
            <a:ext cx="113580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s-CL" sz="1700" b="1" noProof="0" dirty="0">
                <a:solidFill>
                  <a:srgbClr val="F4F6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Seguridad</a:t>
            </a:r>
            <a:endParaRPr lang="es-CL" sz="1700" noProof="0" dirty="0"/>
          </a:p>
        </p:txBody>
      </p:sp>
      <p:sp>
        <p:nvSpPr>
          <p:cNvPr id="13" name="Text 9"/>
          <p:cNvSpPr/>
          <p:nvPr/>
        </p:nvSpPr>
        <p:spPr>
          <a:xfrm>
            <a:off x="6438900" y="2202179"/>
            <a:ext cx="4853051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s-CL" sz="1300" noProof="0" dirty="0">
                <a:solidFill>
                  <a:srgbClr val="C9D6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Algunas rutas y </a:t>
            </a:r>
            <a:r>
              <a:rPr lang="es-CL" sz="1300" noProof="0" dirty="0" err="1">
                <a:solidFill>
                  <a:srgbClr val="C9D6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APIs</a:t>
            </a:r>
            <a:r>
              <a:rPr lang="es-CL" sz="1300" noProof="0" dirty="0">
                <a:solidFill>
                  <a:srgbClr val="C9D6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internas no exigen autenticación, y hay credenciales en archivos de configuración.</a:t>
            </a:r>
            <a:endParaRPr lang="es-CL" sz="1300" noProof="0" dirty="0"/>
          </a:p>
        </p:txBody>
      </p:sp>
      <p:sp>
        <p:nvSpPr>
          <p:cNvPr id="14" name="Shape 10"/>
          <p:cNvSpPr/>
          <p:nvPr/>
        </p:nvSpPr>
        <p:spPr>
          <a:xfrm>
            <a:off x="812800" y="3011171"/>
            <a:ext cx="5207000" cy="1409065"/>
          </a:xfrm>
          <a:prstGeom prst="roundRect">
            <a:avLst>
              <a:gd name="adj" fmla="val 6309"/>
            </a:avLst>
          </a:prstGeom>
          <a:solidFill>
            <a:srgbClr val="1F2E3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Shape 11"/>
          <p:cNvSpPr/>
          <p:nvPr/>
        </p:nvSpPr>
        <p:spPr>
          <a:xfrm>
            <a:off x="812800" y="3011171"/>
            <a:ext cx="5207000" cy="1409065"/>
          </a:xfrm>
          <a:custGeom>
            <a:avLst/>
            <a:gdLst/>
            <a:ahLst/>
            <a:cxnLst/>
            <a:rect l="l" t="t" r="r" b="b"/>
            <a:pathLst>
              <a:path w="5207000" h="1409065">
                <a:moveTo>
                  <a:pt x="88900" y="1409065"/>
                </a:moveTo>
                <a:lnTo>
                  <a:pt x="88900" y="1409065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lnTo>
                  <a:pt x="88900" y="0"/>
                </a:lnTo>
                <a:arcTo wR="50800" hR="88900" stAng="16200000" swAng="-5400000"/>
                <a:lnTo>
                  <a:pt x="38100" y="1320165"/>
                </a:lnTo>
                <a:arcTo wR="50800" hR="88900" stAng="10800000" swAng="-5400000"/>
                <a:close/>
              </a:path>
            </a:pathLst>
          </a:custGeom>
          <a:solidFill>
            <a:srgbClr val="5CC4B0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6" name="Image 2" descr="Tool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79500" y="3191508"/>
            <a:ext cx="254000" cy="2540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35100" y="3188971"/>
            <a:ext cx="2193684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s-CL" sz="1700" b="1" noProof="0" dirty="0">
                <a:solidFill>
                  <a:srgbClr val="F4F6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Operación y soporte</a:t>
            </a:r>
            <a:endParaRPr lang="es-CL" sz="1700" noProof="0" dirty="0"/>
          </a:p>
        </p:txBody>
      </p:sp>
      <p:sp>
        <p:nvSpPr>
          <p:cNvPr id="18" name="Text 13"/>
          <p:cNvSpPr/>
          <p:nvPr/>
        </p:nvSpPr>
        <p:spPr>
          <a:xfrm>
            <a:off x="1079500" y="3524250"/>
            <a:ext cx="4853051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s-CL" sz="1300" noProof="0" dirty="0">
                <a:solidFill>
                  <a:srgbClr val="C9D6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«Sincronizado» no significa confirmado en AX, y la impresión puede reportar éxito aunque falle.</a:t>
            </a:r>
            <a:endParaRPr lang="es-CL" sz="1300" noProof="0" dirty="0"/>
          </a:p>
        </p:txBody>
      </p:sp>
      <p:sp>
        <p:nvSpPr>
          <p:cNvPr id="19" name="Shape 14"/>
          <p:cNvSpPr/>
          <p:nvPr/>
        </p:nvSpPr>
        <p:spPr>
          <a:xfrm>
            <a:off x="6172200" y="3011171"/>
            <a:ext cx="5207000" cy="1409065"/>
          </a:xfrm>
          <a:prstGeom prst="roundRect">
            <a:avLst>
              <a:gd name="adj" fmla="val 6309"/>
            </a:avLst>
          </a:prstGeom>
          <a:solidFill>
            <a:srgbClr val="1F2E3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Shape 15"/>
          <p:cNvSpPr/>
          <p:nvPr/>
        </p:nvSpPr>
        <p:spPr>
          <a:xfrm>
            <a:off x="6172200" y="3011171"/>
            <a:ext cx="5207000" cy="1409065"/>
          </a:xfrm>
          <a:custGeom>
            <a:avLst/>
            <a:gdLst/>
            <a:ahLst/>
            <a:cxnLst/>
            <a:rect l="l" t="t" r="r" b="b"/>
            <a:pathLst>
              <a:path w="5207000" h="1409065">
                <a:moveTo>
                  <a:pt x="88900" y="1409065"/>
                </a:moveTo>
                <a:lnTo>
                  <a:pt x="88900" y="1409065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lnTo>
                  <a:pt x="88900" y="0"/>
                </a:lnTo>
                <a:arcTo wR="50800" hR="88900" stAng="16200000" swAng="-5400000"/>
                <a:lnTo>
                  <a:pt x="38100" y="1320165"/>
                </a:lnTo>
                <a:arcTo wR="50800" hR="88900" stAng="10800000" swAng="-5400000"/>
                <a:close/>
              </a:path>
            </a:pathLst>
          </a:custGeom>
          <a:solidFill>
            <a:srgbClr val="5CC4B0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21" name="Image 3" descr="Clock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38900" y="3191508"/>
            <a:ext cx="254000" cy="2540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94500" y="3188971"/>
            <a:ext cx="203006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s-CL" sz="1700" b="1" noProof="0" dirty="0">
                <a:solidFill>
                  <a:srgbClr val="F4F6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Deuda tecnológica</a:t>
            </a:r>
            <a:endParaRPr lang="es-CL" sz="1700" noProof="0" dirty="0"/>
          </a:p>
        </p:txBody>
      </p:sp>
      <p:sp>
        <p:nvSpPr>
          <p:cNvPr id="23" name="Text 17"/>
          <p:cNvSpPr/>
          <p:nvPr/>
        </p:nvSpPr>
        <p:spPr>
          <a:xfrm>
            <a:off x="6438900" y="3524250"/>
            <a:ext cx="4853051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s-CL" sz="1300" noProof="0" dirty="0">
                <a:solidFill>
                  <a:srgbClr val="C9D6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consulta de precios aún requiere conexión: sin ella no se puede finalizar una venta. Además, versiones fuera de soporte.</a:t>
            </a:r>
            <a:endParaRPr lang="es-CL" sz="1300" noProof="0" dirty="0"/>
          </a:p>
        </p:txBody>
      </p:sp>
      <p:sp>
        <p:nvSpPr>
          <p:cNvPr id="24" name="Text 18"/>
          <p:cNvSpPr/>
          <p:nvPr/>
        </p:nvSpPr>
        <p:spPr>
          <a:xfrm>
            <a:off x="812800" y="4674233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s-CL" sz="1200" noProof="0" dirty="0"/>
          </a:p>
        </p:txBody>
      </p:sp>
      <p:sp>
        <p:nvSpPr>
          <p:cNvPr id="32" name="Forma libre: forma 31">
            <a:extLst>
              <a:ext uri="{FF2B5EF4-FFF2-40B4-BE49-F238E27FC236}">
                <a16:creationId xmlns:a16="http://schemas.microsoft.com/office/drawing/2014/main" id="{EB70A3BB-9BDF-5B4F-E2B7-C1C715CC2571}"/>
              </a:ext>
            </a:extLst>
          </p:cNvPr>
          <p:cNvSpPr/>
          <p:nvPr/>
        </p:nvSpPr>
        <p:spPr>
          <a:xfrm flipH="1">
            <a:off x="10753493" y="6626345"/>
            <a:ext cx="1438507" cy="231655"/>
          </a:xfrm>
          <a:custGeom>
            <a:avLst/>
            <a:gdLst>
              <a:gd name="csX0" fmla="*/ 0 w 2456496"/>
              <a:gd name="csY0" fmla="*/ 93 h 518929"/>
              <a:gd name="csX1" fmla="*/ 2278421 w 2456496"/>
              <a:gd name="csY1" fmla="*/ 93 h 518929"/>
              <a:gd name="csX2" fmla="*/ 2456497 w 2456496"/>
              <a:gd name="csY2" fmla="*/ 178170 h 518929"/>
              <a:gd name="csX3" fmla="*/ 2456497 w 2456496"/>
              <a:gd name="csY3" fmla="*/ 518930 h 518929"/>
              <a:gd name="csX4" fmla="*/ 0 w 2456496"/>
              <a:gd name="csY4" fmla="*/ 518930 h 518929"/>
              <a:gd name="csX5" fmla="*/ 0 w 2456496"/>
              <a:gd name="csY5" fmla="*/ 0 h 518929"/>
              <a:gd name="csX6" fmla="*/ 0 w 2456496"/>
              <a:gd name="csY6" fmla="*/ 0 h 5189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56496" h="518929">
                <a:moveTo>
                  <a:pt x="0" y="93"/>
                </a:moveTo>
                <a:lnTo>
                  <a:pt x="2278421" y="93"/>
                </a:lnTo>
                <a:cubicBezTo>
                  <a:pt x="2376740" y="93"/>
                  <a:pt x="2456497" y="79943"/>
                  <a:pt x="2456497" y="178170"/>
                </a:cubicBezTo>
                <a:lnTo>
                  <a:pt x="2456497" y="518930"/>
                </a:lnTo>
                <a:lnTo>
                  <a:pt x="0" y="51893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9581"/>
          </a:solidFill>
          <a:ln w="9328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3" name="Imagen 32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40CE292B-697E-8FE1-B481-DC03579823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131" y="6161339"/>
            <a:ext cx="1096557" cy="801914"/>
          </a:xfrm>
          <a:prstGeom prst="rect">
            <a:avLst/>
          </a:prstGeom>
        </p:spPr>
      </p:pic>
      <p:grpSp>
        <p:nvGrpSpPr>
          <p:cNvPr id="34" name="Grupo 33">
            <a:extLst>
              <a:ext uri="{FF2B5EF4-FFF2-40B4-BE49-F238E27FC236}">
                <a16:creationId xmlns:a16="http://schemas.microsoft.com/office/drawing/2014/main" id="{1C266F23-7AC6-816A-2C97-278598D16B14}"/>
              </a:ext>
            </a:extLst>
          </p:cNvPr>
          <p:cNvGrpSpPr/>
          <p:nvPr/>
        </p:nvGrpSpPr>
        <p:grpSpPr>
          <a:xfrm>
            <a:off x="448370" y="6522174"/>
            <a:ext cx="3712788" cy="261610"/>
            <a:chOff x="448370" y="6513296"/>
            <a:chExt cx="3712788" cy="261610"/>
          </a:xfrm>
        </p:grpSpPr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2D3E4761-61BC-2C0B-838D-AA4B3A278BD4}"/>
                </a:ext>
              </a:extLst>
            </p:cNvPr>
            <p:cNvGrpSpPr/>
            <p:nvPr userDrawn="1"/>
          </p:nvGrpSpPr>
          <p:grpSpPr>
            <a:xfrm>
              <a:off x="448370" y="6513296"/>
              <a:ext cx="2978937" cy="261610"/>
              <a:chOff x="9047344" y="6512423"/>
              <a:chExt cx="3340699" cy="261610"/>
            </a:xfrm>
          </p:grpSpPr>
          <p:sp>
            <p:nvSpPr>
              <p:cNvPr id="40" name="Forma libre: forma 39">
                <a:extLst>
                  <a:ext uri="{FF2B5EF4-FFF2-40B4-BE49-F238E27FC236}">
                    <a16:creationId xmlns:a16="http://schemas.microsoft.com/office/drawing/2014/main" id="{2A0D4C0A-3C41-1C60-63C3-E8B74C741BFE}"/>
                  </a:ext>
                </a:extLst>
              </p:cNvPr>
              <p:cNvSpPr/>
              <p:nvPr userDrawn="1"/>
            </p:nvSpPr>
            <p:spPr>
              <a:xfrm>
                <a:off x="9107601" y="6534430"/>
                <a:ext cx="2964589" cy="210603"/>
              </a:xfrm>
              <a:custGeom>
                <a:avLst/>
                <a:gdLst>
                  <a:gd name="csX0" fmla="*/ 2407524 w 2585599"/>
                  <a:gd name="csY0" fmla="*/ 0 h 518836"/>
                  <a:gd name="csX1" fmla="*/ 0 w 2585599"/>
                  <a:gd name="csY1" fmla="*/ 0 h 518836"/>
                  <a:gd name="csX2" fmla="*/ 0 w 2585599"/>
                  <a:gd name="csY2" fmla="*/ 340761 h 518836"/>
                  <a:gd name="csX3" fmla="*/ 178076 w 2585599"/>
                  <a:gd name="csY3" fmla="*/ 518836 h 518836"/>
                  <a:gd name="csX4" fmla="*/ 2585600 w 2585599"/>
                  <a:gd name="csY4" fmla="*/ 518836 h 518836"/>
                  <a:gd name="csX5" fmla="*/ 2585600 w 2585599"/>
                  <a:gd name="csY5" fmla="*/ 178076 h 518836"/>
                  <a:gd name="csX6" fmla="*/ 2407524 w 2585599"/>
                  <a:gd name="csY6" fmla="*/ 0 h 5188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585599" h="518836">
                    <a:moveTo>
                      <a:pt x="2407524" y="0"/>
                    </a:moveTo>
                    <a:lnTo>
                      <a:pt x="0" y="0"/>
                    </a:lnTo>
                    <a:lnTo>
                      <a:pt x="0" y="340761"/>
                    </a:lnTo>
                    <a:cubicBezTo>
                      <a:pt x="0" y="439080"/>
                      <a:pt x="79756" y="518836"/>
                      <a:pt x="178076" y="518836"/>
                    </a:cubicBezTo>
                    <a:lnTo>
                      <a:pt x="2585600" y="518836"/>
                    </a:lnTo>
                    <a:lnTo>
                      <a:pt x="2585600" y="178076"/>
                    </a:lnTo>
                    <a:cubicBezTo>
                      <a:pt x="2585600" y="79756"/>
                      <a:pt x="2505843" y="0"/>
                      <a:pt x="2407524" y="0"/>
                    </a:cubicBezTo>
                    <a:close/>
                  </a:path>
                </a:pathLst>
              </a:custGeom>
              <a:solidFill>
                <a:srgbClr val="046EB6"/>
              </a:solidFill>
              <a:ln w="9328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46EB6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5E7170AF-A401-367A-773E-8083CDC42A8F}"/>
                  </a:ext>
                </a:extLst>
              </p:cNvPr>
              <p:cNvSpPr txBox="1"/>
              <p:nvPr userDrawn="1"/>
            </p:nvSpPr>
            <p:spPr>
              <a:xfrm>
                <a:off x="9047344" y="6512423"/>
                <a:ext cx="334069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L" sz="1050" b="1" i="1" u="none" strike="noStrike" kern="1200" cap="none" spc="0" normalizeH="0" baseline="0" noProof="0" dirty="0">
                    <a:ln/>
                    <a:solidFill>
                      <a:srgbClr val="FFFFFF"/>
                    </a:solidFill>
                    <a:effectLst/>
                    <a:uLnTx/>
                    <a:uFillTx/>
                    <a:latin typeface="Acumin Variable Concept"/>
                    <a:ea typeface="+mn-ea"/>
                    <a:cs typeface="+mn-cs"/>
                    <a:sym typeface="Acumin Variable Concept"/>
                    <a:rtl val="0"/>
                  </a:rPr>
                  <a:t>EL SUPERMERCADO DEL TRANSPORTE</a:t>
                </a:r>
              </a:p>
            </p:txBody>
          </p:sp>
        </p:grpSp>
        <p:grpSp>
          <p:nvGrpSpPr>
            <p:cNvPr id="36" name="Gráfico 4">
              <a:extLst>
                <a:ext uri="{FF2B5EF4-FFF2-40B4-BE49-F238E27FC236}">
                  <a16:creationId xmlns:a16="http://schemas.microsoft.com/office/drawing/2014/main" id="{66218239-0BD6-58A6-89C7-2070F01CAD2C}"/>
                </a:ext>
              </a:extLst>
            </p:cNvPr>
            <p:cNvGrpSpPr/>
            <p:nvPr userDrawn="1"/>
          </p:nvGrpSpPr>
          <p:grpSpPr>
            <a:xfrm>
              <a:off x="3427306" y="6567844"/>
              <a:ext cx="733852" cy="145520"/>
              <a:chOff x="2672165" y="6438007"/>
              <a:chExt cx="733852" cy="145520"/>
            </a:xfrm>
          </p:grpSpPr>
          <p:pic>
            <p:nvPicPr>
              <p:cNvPr id="37" name="Imagen 36">
                <a:extLst>
                  <a:ext uri="{FF2B5EF4-FFF2-40B4-BE49-F238E27FC236}">
                    <a16:creationId xmlns:a16="http://schemas.microsoft.com/office/drawing/2014/main" id="{5074FF7E-3E47-F218-972E-14DE5D592E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72165" y="6438007"/>
                <a:ext cx="215855" cy="145520"/>
              </a:xfrm>
              <a:custGeom>
                <a:avLst/>
                <a:gdLst>
                  <a:gd name="csX0" fmla="*/ 209 w 215855"/>
                  <a:gd name="csY0" fmla="*/ 638 h 145520"/>
                  <a:gd name="csX1" fmla="*/ 216064 w 215855"/>
                  <a:gd name="csY1" fmla="*/ 638 h 145520"/>
                  <a:gd name="csX2" fmla="*/ 216064 w 215855"/>
                  <a:gd name="csY2" fmla="*/ 146158 h 145520"/>
                  <a:gd name="csX3" fmla="*/ 209 w 215855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5855" h="145520">
                    <a:moveTo>
                      <a:pt x="209" y="638"/>
                    </a:moveTo>
                    <a:lnTo>
                      <a:pt x="216064" y="638"/>
                    </a:lnTo>
                    <a:lnTo>
                      <a:pt x="216064" y="146158"/>
                    </a:lnTo>
                    <a:lnTo>
                      <a:pt x="209" y="146158"/>
                    </a:lnTo>
                    <a:close/>
                  </a:path>
                </a:pathLst>
              </a:custGeom>
            </p:spPr>
          </p:pic>
          <p:pic>
            <p:nvPicPr>
              <p:cNvPr id="38" name="Imagen 37">
                <a:extLst>
                  <a:ext uri="{FF2B5EF4-FFF2-40B4-BE49-F238E27FC236}">
                    <a16:creationId xmlns:a16="http://schemas.microsoft.com/office/drawing/2014/main" id="{CCA29959-0FA9-093C-B82A-D2EBEF66F7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34755" y="6438007"/>
                <a:ext cx="214642" cy="145520"/>
              </a:xfrm>
              <a:custGeom>
                <a:avLst/>
                <a:gdLst>
                  <a:gd name="csX0" fmla="*/ 238 w 214642"/>
                  <a:gd name="csY0" fmla="*/ 638 h 145520"/>
                  <a:gd name="csX1" fmla="*/ 214880 w 214642"/>
                  <a:gd name="csY1" fmla="*/ 638 h 145520"/>
                  <a:gd name="csX2" fmla="*/ 214880 w 214642"/>
                  <a:gd name="csY2" fmla="*/ 146158 h 145520"/>
                  <a:gd name="csX3" fmla="*/ 238 w 214642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4642" h="145520">
                    <a:moveTo>
                      <a:pt x="238" y="638"/>
                    </a:moveTo>
                    <a:lnTo>
                      <a:pt x="214880" y="638"/>
                    </a:lnTo>
                    <a:lnTo>
                      <a:pt x="214880" y="146158"/>
                    </a:lnTo>
                    <a:lnTo>
                      <a:pt x="238" y="146158"/>
                    </a:lnTo>
                    <a:close/>
                  </a:path>
                </a:pathLst>
              </a:custGeom>
            </p:spPr>
          </p:pic>
          <p:pic>
            <p:nvPicPr>
              <p:cNvPr id="39" name="Imagen 38">
                <a:extLst>
                  <a:ext uri="{FF2B5EF4-FFF2-40B4-BE49-F238E27FC236}">
                    <a16:creationId xmlns:a16="http://schemas.microsoft.com/office/drawing/2014/main" id="{C226C5F4-22D9-99E4-248D-E3C74B4629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96225" y="6438007"/>
                <a:ext cx="209791" cy="145520"/>
              </a:xfrm>
              <a:custGeom>
                <a:avLst/>
                <a:gdLst>
                  <a:gd name="csX0" fmla="*/ 267 w 209791"/>
                  <a:gd name="csY0" fmla="*/ 638 h 145520"/>
                  <a:gd name="csX1" fmla="*/ 210059 w 209791"/>
                  <a:gd name="csY1" fmla="*/ 638 h 145520"/>
                  <a:gd name="csX2" fmla="*/ 210059 w 209791"/>
                  <a:gd name="csY2" fmla="*/ 146158 h 145520"/>
                  <a:gd name="csX3" fmla="*/ 267 w 209791"/>
                  <a:gd name="csY3" fmla="*/ 146158 h 145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09791" h="145520">
                    <a:moveTo>
                      <a:pt x="267" y="638"/>
                    </a:moveTo>
                    <a:lnTo>
                      <a:pt x="210059" y="638"/>
                    </a:lnTo>
                    <a:lnTo>
                      <a:pt x="210059" y="146158"/>
                    </a:lnTo>
                    <a:lnTo>
                      <a:pt x="267" y="146158"/>
                    </a:lnTo>
                    <a:close/>
                  </a:path>
                </a:pathLst>
              </a:custGeom>
            </p:spPr>
          </p:pic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DAC1D-6F11-E04A-F6EB-93E74B5CD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uadroTexto 23">
            <a:extLst>
              <a:ext uri="{FF2B5EF4-FFF2-40B4-BE49-F238E27FC236}">
                <a16:creationId xmlns:a16="http://schemas.microsoft.com/office/drawing/2014/main" id="{43C12452-89BB-0A2D-E8D1-9A2C06AE5478}"/>
              </a:ext>
            </a:extLst>
          </p:cNvPr>
          <p:cNvSpPr txBox="1"/>
          <p:nvPr/>
        </p:nvSpPr>
        <p:spPr>
          <a:xfrm>
            <a:off x="4107202" y="5536745"/>
            <a:ext cx="4647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800" dirty="0">
                <a:solidFill>
                  <a:srgbClr val="046EB6"/>
                </a:solidFill>
                <a:latin typeface="Acumin Variable Concept Black I" panose="020B0304020202020204" pitchFamily="34" charset="0"/>
              </a:rPr>
              <a:t>¡MUCHAS GRACIAS!</a:t>
            </a:r>
            <a:endParaRPr lang="es-CL" sz="3800" b="1" i="1" spc="7" dirty="0">
              <a:ln/>
              <a:solidFill>
                <a:srgbClr val="046EB6"/>
              </a:solidFill>
              <a:latin typeface="Acumin Variable Concept"/>
              <a:sym typeface="Acumin Variable Concept"/>
              <a:rtl val="0"/>
            </a:endParaRPr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7EE3F1AB-F5E3-C821-1B88-6EF8CB9B8A9E}"/>
              </a:ext>
            </a:extLst>
          </p:cNvPr>
          <p:cNvSpPr/>
          <p:nvPr/>
        </p:nvSpPr>
        <p:spPr>
          <a:xfrm>
            <a:off x="420806" y="-14108"/>
            <a:ext cx="11770077" cy="2223763"/>
          </a:xfrm>
          <a:custGeom>
            <a:avLst/>
            <a:gdLst>
              <a:gd name="csX0" fmla="*/ 0 w 11770077"/>
              <a:gd name="csY0" fmla="*/ 0 h 2223763"/>
              <a:gd name="csX1" fmla="*/ 11770077 w 11770077"/>
              <a:gd name="csY1" fmla="*/ 0 h 2223763"/>
              <a:gd name="csX2" fmla="*/ 11770077 w 11770077"/>
              <a:gd name="csY2" fmla="*/ 2223764 h 2223763"/>
              <a:gd name="csX3" fmla="*/ 301937 w 11770077"/>
              <a:gd name="csY3" fmla="*/ 2223764 h 2223763"/>
              <a:gd name="csX4" fmla="*/ 0 w 11770077"/>
              <a:gd name="csY4" fmla="*/ 1921826 h 2223763"/>
              <a:gd name="csX5" fmla="*/ 0 w 11770077"/>
              <a:gd name="csY5" fmla="*/ 0 h 2223763"/>
              <a:gd name="csX6" fmla="*/ 0 w 11770077"/>
              <a:gd name="csY6" fmla="*/ 0 h 2223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770077" h="2223763">
                <a:moveTo>
                  <a:pt x="0" y="0"/>
                </a:moveTo>
                <a:lnTo>
                  <a:pt x="11770077" y="0"/>
                </a:lnTo>
                <a:lnTo>
                  <a:pt x="11770077" y="2223764"/>
                </a:lnTo>
                <a:lnTo>
                  <a:pt x="301937" y="2223764"/>
                </a:lnTo>
                <a:cubicBezTo>
                  <a:pt x="135293" y="2223764"/>
                  <a:pt x="0" y="2088474"/>
                  <a:pt x="0" y="1921826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46EB6"/>
          </a:solidFill>
          <a:ln w="9299" cap="flat">
            <a:solidFill>
              <a:srgbClr val="046EB6"/>
            </a:solidFill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AF643C9-631A-3047-FEB9-F0DD8CD03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459"/>
          <a:stretch>
            <a:fillRect/>
          </a:stretch>
        </p:blipFill>
        <p:spPr>
          <a:xfrm>
            <a:off x="1014144" y="0"/>
            <a:ext cx="10164139" cy="5322013"/>
          </a:xfrm>
          <a:prstGeom prst="rect">
            <a:avLst/>
          </a:prstGeom>
        </p:spPr>
      </p:pic>
      <p:pic>
        <p:nvPicPr>
          <p:cNvPr id="3" name="Imagen 2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5F19879A-26DB-1308-8FD1-F2983ACE16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440" y="341679"/>
            <a:ext cx="4631524" cy="338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312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2981</Words>
  <Application>Microsoft Office PowerPoint</Application>
  <PresentationFormat>Widescreen</PresentationFormat>
  <Paragraphs>299</Paragraphs>
  <Slides>15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Ecosistema de Caja Mountain</dc:title>
  <dc:subject>PptxGenJS Presentation</dc:subject>
  <dc:creator>PptxGenJS</dc:creator>
  <cp:lastModifiedBy>Javier Alexis Uribe Molina</cp:lastModifiedBy>
  <cp:revision>8</cp:revision>
  <dcterms:created xsi:type="dcterms:W3CDTF">2026-09-28T18:55:57Z</dcterms:created>
  <dcterms:modified xsi:type="dcterms:W3CDTF">2026-10-01T19:37:01Z</dcterms:modified>
</cp:coreProperties>
</file>